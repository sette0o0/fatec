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1" r:id="rId5"/>
  </p:sldMasterIdLst>
  <p:notesMasterIdLst>
    <p:notesMasterId r:id="rId24"/>
  </p:notesMasterIdLst>
  <p:sldIdLst>
    <p:sldId id="256" r:id="rId6"/>
    <p:sldId id="258" r:id="rId7"/>
    <p:sldId id="350" r:id="rId8"/>
    <p:sldId id="351" r:id="rId9"/>
    <p:sldId id="352" r:id="rId10"/>
    <p:sldId id="354" r:id="rId11"/>
    <p:sldId id="353" r:id="rId12"/>
    <p:sldId id="356" r:id="rId13"/>
    <p:sldId id="357" r:id="rId14"/>
    <p:sldId id="358" r:id="rId15"/>
    <p:sldId id="359" r:id="rId16"/>
    <p:sldId id="361" r:id="rId17"/>
    <p:sldId id="362" r:id="rId18"/>
    <p:sldId id="360" r:id="rId19"/>
    <p:sldId id="363" r:id="rId20"/>
    <p:sldId id="364" r:id="rId21"/>
    <p:sldId id="366" r:id="rId22"/>
    <p:sldId id="365" r:id="rId23"/>
  </p:sldIdLst>
  <p:sldSz cx="9144000" cy="6858000" type="screen4x3"/>
  <p:notesSz cx="6858000" cy="9144000"/>
  <p:defaultTextStyle>
    <a:defPPr>
      <a:defRPr lang="pt-BR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DejaVu Sans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DejaVu Sans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DejaVu Sans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DejaVu Sans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DejaVu Sans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DejaVu Sans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DejaVu Sans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DejaVu Sans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DejaVu Sans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62"/>
    <p:restoredTop sz="94671"/>
  </p:normalViewPr>
  <p:slideViewPr>
    <p:cSldViewPr showGuides="1">
      <p:cViewPr varScale="1">
        <p:scale>
          <a:sx n="81" d="100"/>
          <a:sy n="81" d="100"/>
        </p:scale>
        <p:origin x="145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E8EE0AE-B00F-4E97-97E4-7D171C6D5376}" type="datetimeFigureOut"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DejaVu Sans"/>
                <a:cs typeface="DejaVu Sans"/>
              </a:rPr>
              <a:t>17/11/2025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para editar os estilos de texto Mestres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Segundo nível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Terceiro nível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Quarto nível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/>
          <a:p>
            <a:pPr lvl="0" algn="r">
              <a:buNone/>
            </a:pPr>
            <a:fld id="{9A0DB2DC-4C9A-4742-B13C-FB6460FD3503}" type="slidenum">
              <a:rPr lang="pt-BR" sz="1200" dirty="0"/>
              <a:t>‹nº›</a:t>
            </a:fld>
            <a:endParaRPr lang="pt-BR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2771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pt-BR" altLang="pt-BR" dirty="0"/>
          </a:p>
        </p:txBody>
      </p:sp>
      <p:sp>
        <p:nvSpPr>
          <p:cNvPr id="32772" name="Espaço Reservado para Número de Slide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pt-BR" altLang="pt-BR" sz="1200" dirty="0"/>
              <a:t>3</a:t>
            </a:fld>
            <a:endParaRPr lang="pt-BR" altLang="pt-BR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4819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pt-BR" altLang="pt-BR" dirty="0"/>
          </a:p>
        </p:txBody>
      </p:sp>
      <p:sp>
        <p:nvSpPr>
          <p:cNvPr id="34820" name="Espaço Reservado para Número de Slide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pt-BR" altLang="pt-BR" sz="1200" dirty="0"/>
              <a:t>4</a:t>
            </a:fld>
            <a:endParaRPr lang="pt-BR" altLang="pt-BR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6867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pt-BR" altLang="pt-BR" dirty="0"/>
          </a:p>
        </p:txBody>
      </p:sp>
      <p:sp>
        <p:nvSpPr>
          <p:cNvPr id="36868" name="Espaço Reservado para Número de Slide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pt-BR" altLang="pt-BR" sz="1200" dirty="0"/>
              <a:t>5</a:t>
            </a:fld>
            <a:endParaRPr lang="pt-BR" altLang="pt-BR" sz="12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891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pt-BR" altLang="pt-BR" dirty="0"/>
          </a:p>
        </p:txBody>
      </p:sp>
      <p:sp>
        <p:nvSpPr>
          <p:cNvPr id="38916" name="Espaço Reservado para Número de Slide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pt-BR" altLang="pt-BR" sz="1200" dirty="0"/>
              <a:t>6</a:t>
            </a:fld>
            <a:endParaRPr lang="pt-BR" altLang="pt-BR" sz="12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0963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pt-BR" altLang="pt-BR" dirty="0"/>
          </a:p>
        </p:txBody>
      </p:sp>
      <p:sp>
        <p:nvSpPr>
          <p:cNvPr id="40964" name="Espaço Reservado para Número de Slide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pt-BR" altLang="pt-BR" sz="1200" dirty="0"/>
              <a:t>7</a:t>
            </a:fld>
            <a:endParaRPr lang="pt-BR" altLang="pt-BR" sz="120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3011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pt-BR" altLang="pt-BR" dirty="0"/>
          </a:p>
        </p:txBody>
      </p:sp>
      <p:sp>
        <p:nvSpPr>
          <p:cNvPr id="43012" name="Espaço Reservado para Número de Slide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pt-BR" altLang="pt-BR" sz="1200" dirty="0"/>
              <a:t>8</a:t>
            </a:fld>
            <a:endParaRPr lang="pt-BR" altLang="pt-BR" sz="120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5059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pt-BR" altLang="pt-BR" dirty="0"/>
          </a:p>
        </p:txBody>
      </p:sp>
      <p:sp>
        <p:nvSpPr>
          <p:cNvPr id="45060" name="Espaço Reservado para Número de Slide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pt-BR" altLang="pt-BR" sz="1200" dirty="0"/>
              <a:t>9</a:t>
            </a:fld>
            <a:endParaRPr lang="pt-BR" altLang="pt-BR" sz="12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7107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pt-BR" altLang="pt-BR" dirty="0"/>
          </a:p>
        </p:txBody>
      </p:sp>
      <p:sp>
        <p:nvSpPr>
          <p:cNvPr id="47108" name="Espaço Reservado para Número de Slide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pt-BR" altLang="pt-BR" sz="1200" dirty="0"/>
              <a:t>10</a:t>
            </a:fld>
            <a:endParaRPr lang="pt-BR" altLang="pt-BR" sz="120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915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pt-BR" altLang="pt-BR" dirty="0"/>
          </a:p>
        </p:txBody>
      </p:sp>
      <p:sp>
        <p:nvSpPr>
          <p:cNvPr id="49156" name="Espaço Reservado para Número de Slide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pt-BR" altLang="pt-BR" sz="1200" dirty="0"/>
              <a:t>11</a:t>
            </a:fld>
            <a:endParaRPr lang="pt-BR" altLang="pt-BR" sz="120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03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pt-BR" altLang="pt-BR" dirty="0"/>
          </a:p>
        </p:txBody>
      </p:sp>
      <p:sp>
        <p:nvSpPr>
          <p:cNvPr id="51204" name="Espaço Reservado para Número de Slide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pt-BR" altLang="pt-BR" sz="1200" dirty="0"/>
              <a:t>12</a:t>
            </a:fld>
            <a:endParaRPr lang="pt-BR" altLang="pt-BR" sz="120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3251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pt-BR" altLang="pt-BR" dirty="0"/>
          </a:p>
        </p:txBody>
      </p:sp>
      <p:sp>
        <p:nvSpPr>
          <p:cNvPr id="53252" name="Espaço Reservado para Número de Slide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pt-BR" altLang="pt-BR" sz="1200" dirty="0"/>
              <a:t>13</a:t>
            </a:fld>
            <a:endParaRPr lang="pt-BR" altLang="pt-BR" sz="1200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5299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pt-BR" altLang="pt-BR" dirty="0"/>
          </a:p>
        </p:txBody>
      </p:sp>
      <p:sp>
        <p:nvSpPr>
          <p:cNvPr id="55300" name="Espaço Reservado para Número de Slide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pt-BR" altLang="pt-BR" sz="1200" dirty="0"/>
              <a:t>14</a:t>
            </a:fld>
            <a:endParaRPr lang="pt-BR" altLang="pt-BR" sz="1200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7347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pt-BR" altLang="pt-BR" dirty="0"/>
          </a:p>
        </p:txBody>
      </p:sp>
      <p:sp>
        <p:nvSpPr>
          <p:cNvPr id="57348" name="Espaço Reservado para Número de Slide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pt-BR" altLang="pt-BR" sz="1200" dirty="0"/>
              <a:t>15</a:t>
            </a:fld>
            <a:endParaRPr lang="pt-BR" altLang="pt-BR" sz="1200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939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pt-BR" altLang="pt-BR" dirty="0"/>
          </a:p>
        </p:txBody>
      </p:sp>
      <p:sp>
        <p:nvSpPr>
          <p:cNvPr id="59396" name="Espaço Reservado para Número de Slide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pt-BR" altLang="pt-BR" sz="1200" dirty="0"/>
              <a:t>16</a:t>
            </a:fld>
            <a:endParaRPr lang="pt-BR" altLang="pt-BR" sz="1200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1443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pt-BR" altLang="pt-BR" dirty="0"/>
          </a:p>
        </p:txBody>
      </p:sp>
      <p:sp>
        <p:nvSpPr>
          <p:cNvPr id="61444" name="Espaço Reservado para Número de Slide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pt-BR" altLang="pt-BR" sz="1200" dirty="0"/>
              <a:t>17</a:t>
            </a:fld>
            <a:endParaRPr lang="pt-BR" altLang="pt-BR" sz="1200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3491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pt-BR" altLang="pt-BR" dirty="0"/>
          </a:p>
        </p:txBody>
      </p:sp>
      <p:sp>
        <p:nvSpPr>
          <p:cNvPr id="63492" name="Espaço Reservado para Número de Slide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pt-BR" altLang="pt-BR" sz="1200" dirty="0"/>
              <a:t>18</a:t>
            </a:fld>
            <a:endParaRPr lang="pt-BR" altLang="pt-BR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452556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7292880" cy="5851080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57200" y="3963600"/>
            <a:ext cx="40154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452556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73520" y="3963600"/>
            <a:ext cx="40154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3963600"/>
            <a:ext cx="822852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3963600"/>
            <a:ext cx="82292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673520" y="3963600"/>
            <a:ext cx="40154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3963600"/>
            <a:ext cx="40154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 dirty="0"/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7292880" cy="58510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7352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3963600"/>
            <a:ext cx="822852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3963600"/>
            <a:ext cx="82292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67352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5720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B635D13-8427-4043-9150-64769B892DEE}" type="datetimeFigureOut"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17/11/2025</a:t>
            </a:fld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wrap="square" lIns="90000" tIns="45000" rIns="90000" bIns="45000" numCol="1" anchor="t" anchorCtr="0" compatLnSpc="1"/>
          <a:lstStyle/>
          <a:p>
            <a:pPr eaLnBrk="1" hangingPunct="1">
              <a:buNone/>
            </a:pPr>
            <a:fld id="{9A0DB2DC-4C9A-4742-B13C-FB6460FD3503}" type="slidenum">
              <a:rPr lang="pt-BR" dirty="0">
                <a:latin typeface="Calibri" panose="020F0502020204030204" charset="0"/>
              </a:rPr>
              <a:t>‹nº›</a:t>
            </a:fld>
            <a:endParaRPr lang="pt-BR" dirty="0">
              <a:latin typeface="Calibri" panose="020F050202020403020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50175" y="287338"/>
            <a:ext cx="923925" cy="1143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Line 1"/>
          <p:cNvSpPr/>
          <p:nvPr/>
        </p:nvSpPr>
        <p:spPr>
          <a:xfrm>
            <a:off x="457200" y="1419225"/>
            <a:ext cx="7305675" cy="1588"/>
          </a:xfrm>
          <a:prstGeom prst="line">
            <a:avLst/>
          </a:prstGeom>
          <a:ln w="25560" cap="flat" cmpd="sng">
            <a:solidFill>
              <a:srgbClr val="404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8" name="PlaceHolder 2"/>
          <p:cNvSpPr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pt-BR" dirty="0"/>
              <a:t>Clique para editar o formato do texto do títuloClick to edit Master title style</a:t>
            </a:r>
            <a:endParaRPr lang="pt-BR" altLang="pt-BR" dirty="0"/>
          </a:p>
        </p:txBody>
      </p:sp>
      <p:sp>
        <p:nvSpPr>
          <p:cNvPr id="3" name="PlaceHolder 3"/>
          <p:cNvSpPr>
            <a:spLocks noGrp="1"/>
          </p:cNvSpPr>
          <p:nvPr>
            <p:ph type="dt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Calibri" panose="020F0502020204030204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Calibri" panose="020F0502020204030204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wrap="square" lIns="90000" tIns="45000" rIns="90000" bIns="45000" numCol="1" anchor="t" anchorCtr="0" compatLnSpc="1"/>
          <a:lstStyle>
            <a:lvl1pPr>
              <a:defRPr>
                <a:solidFill>
                  <a:srgbClr val="000000"/>
                </a:solidFill>
                <a:latin typeface="Calibri" panose="020F050202020403020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  <p:sp>
        <p:nvSpPr>
          <p:cNvPr id="6" name="PlaceHolder 6"/>
          <p:cNvSpPr>
            <a:spLocks noGrp="1"/>
          </p:cNvSpPr>
          <p:nvPr>
            <p:ph type="body"/>
          </p:nvPr>
        </p:nvSpPr>
        <p:spPr>
          <a:xfrm>
            <a:off x="457200" y="1604963"/>
            <a:ext cx="8229600" cy="4525963"/>
          </a:xfrm>
          <a:prstGeom prst="rect">
            <a:avLst/>
          </a:prstGeom>
        </p:spPr>
        <p:txBody>
          <a:bodyPr wrap="none" lIns="0" tIns="0" rIns="0" bIns="0"/>
          <a:lstStyle/>
          <a:p>
            <a:r>
              <a:rPr lang="en-US"/>
              <a:t>Clique para editar o formato do texto da estrutura de tópicos</a:t>
            </a:r>
          </a:p>
          <a:p>
            <a:pPr lvl="1"/>
            <a:r>
              <a:rPr lang="en-US"/>
              <a:t>2.º Nível da estrutura de tópicos</a:t>
            </a:r>
          </a:p>
          <a:p>
            <a:pPr lvl="2"/>
            <a:r>
              <a:rPr lang="en-US"/>
              <a:t>3.º Nível da estrutura de tópicos</a:t>
            </a:r>
          </a:p>
          <a:p>
            <a:pPr lvl="3"/>
            <a:r>
              <a:rPr lang="en-US"/>
              <a:t>4.º Nível da estrutura de tópicos</a:t>
            </a:r>
          </a:p>
          <a:p>
            <a:pPr lvl="4"/>
            <a:r>
              <a:rPr lang="en-US"/>
              <a:t>5.º Nível da estrutura de tópicos</a:t>
            </a:r>
          </a:p>
          <a:p>
            <a:pPr lvl="5"/>
            <a:r>
              <a:rPr lang="en-US"/>
              <a:t>6.º Nível da estrutura de tópicos</a:t>
            </a:r>
          </a:p>
          <a:p>
            <a:pPr lvl="6"/>
            <a:r>
              <a:rPr lang="en-US"/>
              <a:t>7.º Nível da estrutura de tópicos</a:t>
            </a:r>
          </a:p>
          <a:p>
            <a:pPr lvl="7"/>
            <a:r>
              <a:rPr lang="en-US"/>
              <a:t>8.º Nível da estrutura de tópicos</a:t>
            </a:r>
          </a:p>
          <a:p>
            <a:pPr lvl="8"/>
            <a:r>
              <a:rPr lang="en-US"/>
              <a:t>9.º Nível da estrutura de tópicos</a:t>
            </a:r>
          </a:p>
        </p:txBody>
      </p:sp>
      <p:pic>
        <p:nvPicPr>
          <p:cNvPr id="1033" name="Picture 2" descr="C:\Users\unassan\Desktop\ANDRESSA\SOMMERVILLE\CW\Template_MESTRE.jpg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-36512" y="-26987"/>
            <a:ext cx="9180512" cy="68849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8"/>
          <p:cNvSpPr>
            <a:spLocks noGrp="1" noChangeArrowheads="1"/>
          </p:cNvSpPr>
          <p:nvPr/>
        </p:nvSpPr>
        <p:spPr bwMode="auto">
          <a:xfrm>
            <a:off x="250825" y="6453188"/>
            <a:ext cx="3214688" cy="2143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lvl="0" eaLnBrk="1" hangingPunct="1">
              <a:buNone/>
            </a:pPr>
            <a:r>
              <a:rPr lang="pt-BR" altLang="pt-BR" sz="1200" dirty="0">
                <a:latin typeface="Arial" panose="020B0604020202020204" pitchFamily="34" charset="0"/>
              </a:rPr>
              <a:t>slide </a:t>
            </a:r>
            <a:fld id="{9A0DB2DC-4C9A-4742-B13C-FB6460FD3503}" type="slidenum">
              <a:rPr lang="pt-BR" altLang="pt-BR" sz="1200" dirty="0">
                <a:latin typeface="Arial" panose="020B0604020202020204" pitchFamily="34" charset="0"/>
              </a:rPr>
              <a:t>‹nº›</a:t>
            </a:fld>
            <a:endParaRPr lang="pt-BR" altLang="pt-BR" sz="1200" dirty="0">
              <a:latin typeface="Arial" panose="020B0604020202020204" pitchFamily="34" charset="0"/>
            </a:endParaRPr>
          </a:p>
          <a:p>
            <a:pPr lvl="0" eaLnBrk="1" hangingPunct="1">
              <a:buNone/>
            </a:pPr>
            <a:endParaRPr lang="pt-BR" altLang="pt-BR" sz="1200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lvl1pPr marL="0" lvl="0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1pPr>
      <a:lvl2pPr marL="457200" lvl="1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2pPr>
      <a:lvl3pPr marL="914400" lvl="2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3pPr>
      <a:lvl4pPr marL="1371600" lvl="3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4pPr>
      <a:lvl5pPr marL="1828800" lvl="4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5pPr>
      <a:lvl6pPr marL="2286000" lvl="5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6pPr>
      <a:lvl7pPr marL="2743200" lvl="6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7pPr>
      <a:lvl8pPr marL="3200400" lvl="7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8pPr>
      <a:lvl9pPr marL="3657600" lvl="8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50175" y="287338"/>
            <a:ext cx="923925" cy="1143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Line 1"/>
          <p:cNvSpPr/>
          <p:nvPr/>
        </p:nvSpPr>
        <p:spPr>
          <a:xfrm>
            <a:off x="457200" y="1419225"/>
            <a:ext cx="7305675" cy="1588"/>
          </a:xfrm>
          <a:prstGeom prst="line">
            <a:avLst/>
          </a:prstGeom>
          <a:ln w="25560" cap="flat" cmpd="sng">
            <a:solidFill>
              <a:srgbClr val="404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2" name="PlaceHolder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7292975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pt-BR" dirty="0"/>
              <a:t>Clique para editar o formato do texto do títuloClick to edit Master title style</a:t>
            </a:r>
            <a:endParaRPr lang="pt-BR" altLang="pt-BR" dirty="0"/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lIns="90000" tIns="45000" rIns="90000" bIns="45000"/>
          <a:lstStyle/>
          <a:p>
            <a:r>
              <a:rPr lang="en-US" dirty="0"/>
              <a:t>Clique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editar</a:t>
            </a:r>
            <a:r>
              <a:rPr lang="en-US" dirty="0"/>
              <a:t> o </a:t>
            </a:r>
            <a:r>
              <a:rPr lang="en-US" dirty="0" err="1"/>
              <a:t>formato</a:t>
            </a:r>
            <a:r>
              <a:rPr lang="en-US" dirty="0"/>
              <a:t> do </a:t>
            </a:r>
            <a:r>
              <a:rPr lang="en-US" dirty="0" err="1"/>
              <a:t>texto</a:t>
            </a:r>
            <a:r>
              <a:rPr lang="en-US" dirty="0"/>
              <a:t> da </a:t>
            </a:r>
            <a:r>
              <a:rPr lang="en-US" dirty="0" err="1"/>
              <a:t>estrutura</a:t>
            </a:r>
            <a:r>
              <a:rPr lang="en-US" dirty="0"/>
              <a:t> de </a:t>
            </a:r>
            <a:r>
              <a:rPr lang="en-US" dirty="0" err="1"/>
              <a:t>tópicos</a:t>
            </a:r>
            <a:endParaRPr dirty="0"/>
          </a:p>
          <a:p>
            <a:pPr lvl="1"/>
            <a:r>
              <a:rPr lang="en-US" dirty="0"/>
              <a:t>2.º </a:t>
            </a:r>
            <a:r>
              <a:rPr lang="en-US" dirty="0" err="1"/>
              <a:t>Nível</a:t>
            </a:r>
            <a:r>
              <a:rPr lang="en-US" dirty="0"/>
              <a:t> da </a:t>
            </a:r>
            <a:r>
              <a:rPr lang="en-US" dirty="0" err="1"/>
              <a:t>estrutura</a:t>
            </a:r>
            <a:r>
              <a:rPr lang="en-US" dirty="0"/>
              <a:t> de </a:t>
            </a:r>
            <a:r>
              <a:rPr lang="en-US" dirty="0" err="1"/>
              <a:t>tópicos</a:t>
            </a:r>
            <a:endParaRPr dirty="0"/>
          </a:p>
          <a:p>
            <a:pPr lvl="2"/>
            <a:r>
              <a:rPr lang="en-US" dirty="0"/>
              <a:t>3.º </a:t>
            </a:r>
            <a:r>
              <a:rPr lang="en-US" dirty="0" err="1"/>
              <a:t>Nível</a:t>
            </a:r>
            <a:r>
              <a:rPr lang="en-US" dirty="0"/>
              <a:t> da </a:t>
            </a:r>
            <a:r>
              <a:rPr lang="en-US" dirty="0" err="1"/>
              <a:t>estrutura</a:t>
            </a:r>
            <a:r>
              <a:rPr lang="en-US" dirty="0"/>
              <a:t> de </a:t>
            </a:r>
            <a:r>
              <a:rPr lang="en-US" dirty="0" err="1"/>
              <a:t>tópicos</a:t>
            </a:r>
            <a:endParaRPr dirty="0"/>
          </a:p>
          <a:p>
            <a:pPr lvl="3"/>
            <a:r>
              <a:rPr lang="en-US" dirty="0"/>
              <a:t>4.º </a:t>
            </a:r>
            <a:r>
              <a:rPr lang="en-US" dirty="0" err="1"/>
              <a:t>Nível</a:t>
            </a:r>
            <a:r>
              <a:rPr lang="en-US" dirty="0"/>
              <a:t> da </a:t>
            </a:r>
            <a:r>
              <a:rPr lang="en-US" dirty="0" err="1"/>
              <a:t>estrutura</a:t>
            </a:r>
            <a:r>
              <a:rPr lang="en-US" dirty="0"/>
              <a:t> de </a:t>
            </a:r>
            <a:r>
              <a:rPr lang="en-US" dirty="0" err="1"/>
              <a:t>tópicos</a:t>
            </a:r>
            <a:endParaRPr dirty="0"/>
          </a:p>
          <a:p>
            <a:pPr lvl="4"/>
            <a:r>
              <a:rPr lang="en-US" dirty="0"/>
              <a:t>5.º </a:t>
            </a:r>
            <a:r>
              <a:rPr lang="en-US" dirty="0" err="1"/>
              <a:t>Nível</a:t>
            </a:r>
            <a:r>
              <a:rPr lang="en-US" dirty="0"/>
              <a:t> da </a:t>
            </a:r>
            <a:r>
              <a:rPr lang="en-US" dirty="0" err="1"/>
              <a:t>estrutura</a:t>
            </a:r>
            <a:r>
              <a:rPr lang="en-US" dirty="0"/>
              <a:t> de </a:t>
            </a:r>
            <a:r>
              <a:rPr lang="en-US" dirty="0" err="1"/>
              <a:t>tópicos</a:t>
            </a:r>
            <a:endParaRPr dirty="0"/>
          </a:p>
          <a:p>
            <a:pPr lvl="5"/>
            <a:r>
              <a:rPr lang="en-US" dirty="0"/>
              <a:t>6.º </a:t>
            </a:r>
            <a:r>
              <a:rPr lang="en-US" dirty="0" err="1"/>
              <a:t>Nível</a:t>
            </a:r>
            <a:r>
              <a:rPr lang="en-US" dirty="0"/>
              <a:t> da </a:t>
            </a:r>
            <a:r>
              <a:rPr lang="en-US" dirty="0" err="1"/>
              <a:t>estrutura</a:t>
            </a:r>
            <a:r>
              <a:rPr lang="en-US" dirty="0"/>
              <a:t> de </a:t>
            </a:r>
            <a:r>
              <a:rPr lang="en-US" dirty="0" err="1"/>
              <a:t>tópicos</a:t>
            </a:r>
            <a:endParaRPr dirty="0"/>
          </a:p>
          <a:p>
            <a:pPr lvl="6"/>
            <a:r>
              <a:rPr lang="en-US" dirty="0"/>
              <a:t>7.º </a:t>
            </a:r>
            <a:r>
              <a:rPr lang="en-US" dirty="0" err="1"/>
              <a:t>Nível</a:t>
            </a:r>
            <a:r>
              <a:rPr lang="en-US" dirty="0"/>
              <a:t> da </a:t>
            </a:r>
            <a:r>
              <a:rPr lang="en-US" dirty="0" err="1"/>
              <a:t>estrutura</a:t>
            </a:r>
            <a:r>
              <a:rPr lang="en-US" dirty="0"/>
              <a:t> de </a:t>
            </a:r>
            <a:r>
              <a:rPr lang="en-US" dirty="0" err="1"/>
              <a:t>tópicos</a:t>
            </a:r>
            <a:endParaRPr dirty="0"/>
          </a:p>
          <a:p>
            <a:pPr lvl="7"/>
            <a:r>
              <a:rPr lang="en-US" dirty="0"/>
              <a:t>8.º </a:t>
            </a:r>
            <a:r>
              <a:rPr lang="en-US" dirty="0" err="1"/>
              <a:t>Nível</a:t>
            </a:r>
            <a:r>
              <a:rPr lang="en-US" dirty="0"/>
              <a:t> da </a:t>
            </a:r>
            <a:r>
              <a:rPr lang="en-US" dirty="0" err="1"/>
              <a:t>estrutura</a:t>
            </a:r>
            <a:r>
              <a:rPr lang="en-US" dirty="0"/>
              <a:t> de </a:t>
            </a:r>
            <a:r>
              <a:rPr lang="en-US" dirty="0" err="1"/>
              <a:t>tópicos</a:t>
            </a:r>
            <a:endParaRPr dirty="0"/>
          </a:p>
          <a:p>
            <a:r>
              <a:rPr lang="en-US" dirty="0"/>
              <a:t>9.º </a:t>
            </a:r>
            <a:r>
              <a:rPr lang="en-US" dirty="0" err="1"/>
              <a:t>Nível</a:t>
            </a:r>
            <a:r>
              <a:rPr lang="en-US" dirty="0"/>
              <a:t> da </a:t>
            </a:r>
            <a:r>
              <a:rPr lang="en-US" dirty="0" err="1"/>
              <a:t>estrutura</a:t>
            </a:r>
            <a:r>
              <a:rPr lang="en-US" dirty="0"/>
              <a:t> de </a:t>
            </a:r>
            <a:r>
              <a:rPr lang="en-US" dirty="0" err="1"/>
              <a:t>tópicosClick</a:t>
            </a:r>
            <a:r>
              <a:rPr lang="en-US" dirty="0"/>
              <a:t> to edit Master text styles</a:t>
            </a:r>
            <a:endParaRPr dirty="0"/>
          </a:p>
          <a:p>
            <a:pPr lvl="1"/>
            <a:r>
              <a:rPr lang="en-US" dirty="0"/>
              <a:t>Second level</a:t>
            </a:r>
            <a:endParaRPr dirty="0"/>
          </a:p>
          <a:p>
            <a:r>
              <a:rPr lang="en-US" dirty="0"/>
              <a:t>Third level</a:t>
            </a:r>
            <a:endParaRPr dirty="0"/>
          </a:p>
          <a:p>
            <a:r>
              <a:rPr lang="en-US" dirty="0"/>
              <a:t>Fourth level</a:t>
            </a:r>
            <a:endParaRPr dirty="0"/>
          </a:p>
          <a:p>
            <a:r>
              <a:rPr lang="en-US" dirty="0"/>
              <a:t>Fifth level</a:t>
            </a:r>
            <a:endParaRPr dirty="0"/>
          </a:p>
        </p:txBody>
      </p:sp>
      <p:sp>
        <p:nvSpPr>
          <p:cNvPr id="43" name="PlaceHolder 4"/>
          <p:cNvSpPr>
            <a:spLocks noGrp="1"/>
          </p:cNvSpPr>
          <p:nvPr>
            <p:ph type="dt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Calibri" panose="020F0502020204030204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Calibri" panose="020F0502020204030204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wrap="square" lIns="90000" tIns="45000" rIns="90000" bIns="45000" numCol="1" anchor="t" anchorCtr="0" compatLnSpc="1"/>
          <a:lstStyle>
            <a:lvl1pPr>
              <a:defRPr>
                <a:solidFill>
                  <a:srgbClr val="000000"/>
                </a:solidFill>
                <a:latin typeface="Calibri" panose="020F050202020403020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  <p:pic>
        <p:nvPicPr>
          <p:cNvPr id="2057" name="Picture 2" descr="C:\Users\unassan\Desktop\ANDRESSA\SOMMERVILLE\CW\Template_MESTRE.jpg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-36512" y="-26987"/>
            <a:ext cx="9180512" cy="68849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8"/>
          <p:cNvSpPr>
            <a:spLocks noGrp="1" noChangeArrowheads="1"/>
          </p:cNvSpPr>
          <p:nvPr/>
        </p:nvSpPr>
        <p:spPr bwMode="auto">
          <a:xfrm>
            <a:off x="250825" y="6453188"/>
            <a:ext cx="3214688" cy="2143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lvl="0" eaLnBrk="1" hangingPunct="1">
              <a:buNone/>
            </a:pPr>
            <a:r>
              <a:rPr lang="pt-BR" altLang="pt-BR" sz="1200" dirty="0">
                <a:latin typeface="Arial" panose="020B0604020202020204" pitchFamily="34" charset="0"/>
              </a:rPr>
              <a:t>slide </a:t>
            </a:r>
            <a:fld id="{9A0DB2DC-4C9A-4742-B13C-FB6460FD3503}" type="slidenum">
              <a:rPr lang="pt-BR" altLang="pt-BR" sz="1200" dirty="0">
                <a:latin typeface="Arial" panose="020B0604020202020204" pitchFamily="34" charset="0"/>
              </a:rPr>
              <a:t>‹nº›</a:t>
            </a:fld>
            <a:endParaRPr lang="pt-BR" altLang="pt-BR" sz="1200" dirty="0">
              <a:latin typeface="Arial" panose="020B0604020202020204" pitchFamily="34" charset="0"/>
            </a:endParaRPr>
          </a:p>
          <a:p>
            <a:pPr lvl="0" eaLnBrk="1" hangingPunct="1">
              <a:buNone/>
            </a:pPr>
            <a:endParaRPr lang="pt-BR" altLang="pt-BR" sz="1200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lvl1pPr marL="0" lvl="0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1pPr>
      <a:lvl2pPr marL="457200" lvl="1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2pPr>
      <a:lvl3pPr marL="914400" lvl="2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3pPr>
      <a:lvl4pPr marL="1371600" lvl="3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4pPr>
      <a:lvl5pPr marL="1828800" lvl="4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5pPr>
      <a:lvl6pPr marL="2286000" lvl="5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6pPr>
      <a:lvl7pPr marL="2743200" lvl="6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7pPr>
      <a:lvl8pPr marL="3200400" lvl="7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8pPr>
      <a:lvl9pPr marL="3657600" lvl="8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Shape 1"/>
          <p:cNvSpPr txBox="1"/>
          <p:nvPr/>
        </p:nvSpPr>
        <p:spPr>
          <a:xfrm>
            <a:off x="250825" y="2416175"/>
            <a:ext cx="7772400" cy="14700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pt-BR" b="1" dirty="0">
                <a:latin typeface="Calibri" panose="020F0502020204030204" charset="0"/>
                <a:ea typeface="MS PGothic" panose="020B0600070205080204" pitchFamily="34" charset="-128"/>
              </a:rPr>
              <a:t>Modelagem de Processos de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pt-BR" b="1" dirty="0">
                <a:latin typeface="Calibri" panose="020F0502020204030204" charset="0"/>
                <a:ea typeface="MS PGothic" panose="020B0600070205080204" pitchFamily="34" charset="-128"/>
              </a:rPr>
              <a:t>Negócios e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pt-BR" b="1" dirty="0">
                <a:latin typeface="Calibri" panose="020F0502020204030204" charset="0"/>
                <a:ea typeface="MS PGothic" panose="020B0600070205080204" pitchFamily="34" charset="-128"/>
              </a:rPr>
              <a:t>Engenharia de Requisitos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pt-BR" sz="2400" b="1" dirty="0">
              <a:latin typeface="Calibri" panose="020F0502020204030204" charset="0"/>
              <a:ea typeface="MS PGothic" panose="020B0600070205080204" pitchFamily="34" charset="-128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pt-BR" sz="2400" b="1" dirty="0">
                <a:solidFill>
                  <a:srgbClr val="FF0000"/>
                </a:solidFill>
                <a:latin typeface="Calibri" panose="020F0502020204030204" charset="0"/>
                <a:ea typeface="MS PGothic" panose="020B0600070205080204" pitchFamily="34" charset="-128"/>
              </a:rPr>
              <a:t>Uma Introdução</a:t>
            </a:r>
          </a:p>
        </p:txBody>
      </p:sp>
      <p:sp>
        <p:nvSpPr>
          <p:cNvPr id="29701" name="Rectangle 8"/>
          <p:cNvSpPr>
            <a:spLocks noGrp="1"/>
          </p:cNvSpPr>
          <p:nvPr/>
        </p:nvSpPr>
        <p:spPr>
          <a:xfrm>
            <a:off x="250825" y="6454775"/>
            <a:ext cx="3214688" cy="21431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1200" dirty="0">
                <a:ea typeface="DejaVu Sans"/>
              </a:rPr>
              <a:t>slide </a:t>
            </a:r>
            <a:fld id="{9A0DB2DC-4C9A-4742-B13C-FB6460FD3503}" type="slidenum">
              <a:rPr lang="pt-BR" altLang="pt-BR" sz="1200" dirty="0">
                <a:ea typeface="DejaVu Sans"/>
              </a:rPr>
              <a:t>1</a:t>
            </a:fld>
            <a:endParaRPr lang="pt-BR" altLang="pt-BR" sz="1200" dirty="0">
              <a:ea typeface="DejaVu Sans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pt-BR" altLang="pt-BR" sz="1200" dirty="0">
              <a:ea typeface="DejaVu Sans"/>
            </a:endParaRPr>
          </a:p>
        </p:txBody>
      </p:sp>
      <p:pic>
        <p:nvPicPr>
          <p:cNvPr id="29702" name="Imagem 4" descr="Resultado de imagem para engenharia de softwa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700" y="1792288"/>
            <a:ext cx="2335213" cy="23034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Shape 1"/>
          <p:cNvSpPr txBox="1"/>
          <p:nvPr/>
        </p:nvSpPr>
        <p:spPr>
          <a:xfrm>
            <a:off x="107950" y="255588"/>
            <a:ext cx="7292975" cy="8699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pt-BR" sz="2400" b="1" dirty="0">
                <a:latin typeface="Calibri" panose="020F0502020204030204" charset="0"/>
                <a:ea typeface="MS PGothic" panose="020B0600070205080204" pitchFamily="34" charset="-128"/>
              </a:rPr>
              <a:t>Modelagem de Processos de Negócios</a:t>
            </a:r>
            <a:endParaRPr lang="pt-BR" altLang="pt-BR" sz="1800" dirty="0">
              <a:latin typeface="Calibri" panose="020F0502020204030204" charset="0"/>
              <a:ea typeface="MS PGothic" panose="020B0600070205080204" pitchFamily="34" charset="-128"/>
            </a:endParaRPr>
          </a:p>
        </p:txBody>
      </p:sp>
      <p:pic>
        <p:nvPicPr>
          <p:cNvPr id="30725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" y="1196975"/>
            <a:ext cx="6283325" cy="3689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2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763" y="3475038"/>
            <a:ext cx="1862137" cy="1628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27" name="Text Box 4"/>
          <p:cNvSpPr txBox="1"/>
          <p:nvPr/>
        </p:nvSpPr>
        <p:spPr>
          <a:xfrm>
            <a:off x="1484313" y="5529263"/>
            <a:ext cx="6759575" cy="70802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2"/>
            </a:outerShdw>
          </a:effectLst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pt-BR" altLang="pt-BR" sz="2000" b="1" dirty="0">
                <a:solidFill>
                  <a:srgbClr val="FF0000"/>
                </a:solidFill>
                <a:ea typeface="DejaVu Sans"/>
              </a:rPr>
              <a:t>Conquistando vantagem competitiva com os Sistemas de Informação:     Processos de Negócios</a:t>
            </a:r>
            <a:endParaRPr lang="en-US" altLang="pt-BR" sz="2000" b="1" dirty="0">
              <a:solidFill>
                <a:srgbClr val="FF0000"/>
              </a:solidFill>
              <a:ea typeface="DejaVu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aixaDeTexto 1"/>
          <p:cNvSpPr txBox="1"/>
          <p:nvPr/>
        </p:nvSpPr>
        <p:spPr>
          <a:xfrm>
            <a:off x="469900" y="1066800"/>
            <a:ext cx="6718300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3600" b="1" dirty="0">
                <a:solidFill>
                  <a:schemeClr val="accent2"/>
                </a:solidFill>
                <a:latin typeface="Calibri" panose="020F0502020204030204" charset="0"/>
                <a:ea typeface="DejaVu Sans"/>
              </a:rPr>
              <a:t>Empresas e processos de negócios</a:t>
            </a:r>
          </a:p>
        </p:txBody>
      </p:sp>
      <p:sp>
        <p:nvSpPr>
          <p:cNvPr id="31747" name="CaixaDeTexto 4"/>
          <p:cNvSpPr txBox="1"/>
          <p:nvPr/>
        </p:nvSpPr>
        <p:spPr>
          <a:xfrm>
            <a:off x="458788" y="1566863"/>
            <a:ext cx="8228012" cy="4016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2100" b="1" dirty="0">
                <a:latin typeface="Calibri" panose="020F0502020204030204" charset="0"/>
                <a:ea typeface="DejaVu Sans"/>
              </a:rPr>
              <a:t>Introdução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endParaRPr lang="pt-BR" altLang="pt-BR" sz="1800" dirty="0">
              <a:solidFill>
                <a:srgbClr val="215968"/>
              </a:solidFill>
              <a:latin typeface="Calibri" panose="020F0502020204030204" charset="0"/>
              <a:ea typeface="DejaVu Sans"/>
            </a:endParaRPr>
          </a:p>
          <a:p>
            <a:pPr marL="0" lvl="0" indent="0" eaLnBrk="1" hangingPunct="1">
              <a:spcBef>
                <a:spcPct val="0"/>
              </a:spcBef>
            </a:pPr>
            <a:r>
              <a:rPr lang="pt-BR" altLang="pt-BR" sz="1800" dirty="0">
                <a:solidFill>
                  <a:srgbClr val="215968"/>
                </a:solidFill>
                <a:latin typeface="Calibri" panose="020F0502020204030204" charset="0"/>
                <a:ea typeface="DejaVu Sans"/>
              </a:rPr>
              <a:t> Empresas são coleções de processos de negócios — maneiras de trabalhar e fazer com que as tarefas sejam realizadas.</a:t>
            </a:r>
          </a:p>
          <a:p>
            <a:pPr marL="0" lvl="0" indent="0" eaLnBrk="1" hangingPunct="1">
              <a:spcBef>
                <a:spcPct val="0"/>
              </a:spcBef>
            </a:pPr>
            <a:endParaRPr lang="pt-BR" altLang="pt-BR" sz="1800" dirty="0">
              <a:solidFill>
                <a:srgbClr val="215968"/>
              </a:solidFill>
              <a:latin typeface="Calibri" panose="020F0502020204030204" charset="0"/>
              <a:ea typeface="DejaVu Sans"/>
            </a:endParaRPr>
          </a:p>
          <a:p>
            <a:pPr marL="0" lvl="0" indent="0" eaLnBrk="1" hangingPunct="1">
              <a:spcBef>
                <a:spcPct val="0"/>
              </a:spcBef>
            </a:pPr>
            <a:r>
              <a:rPr lang="pt-BR" altLang="pt-BR" sz="1800" dirty="0">
                <a:solidFill>
                  <a:srgbClr val="215968"/>
                </a:solidFill>
                <a:latin typeface="Calibri" panose="020F0502020204030204" charset="0"/>
                <a:ea typeface="DejaVu Sans"/>
              </a:rPr>
              <a:t> Algumas vezes estão registrados em manuais, mas, em muitos casos, os processos de negócios são informais.</a:t>
            </a:r>
          </a:p>
          <a:p>
            <a:pPr marL="0" lvl="0" indent="0" eaLnBrk="1" hangingPunct="1">
              <a:spcBef>
                <a:spcPct val="0"/>
              </a:spcBef>
            </a:pPr>
            <a:endParaRPr lang="pt-BR" altLang="pt-BR" sz="1800" dirty="0">
              <a:solidFill>
                <a:srgbClr val="215968"/>
              </a:solidFill>
              <a:latin typeface="Calibri" panose="020F0502020204030204" charset="0"/>
              <a:ea typeface="DejaVu Sans"/>
            </a:endParaRPr>
          </a:p>
          <a:p>
            <a:pPr marL="0" lvl="0" indent="0" eaLnBrk="1" hangingPunct="1">
              <a:spcBef>
                <a:spcPct val="0"/>
              </a:spcBef>
            </a:pPr>
            <a:r>
              <a:rPr lang="pt-BR" altLang="pt-BR" sz="1800" dirty="0">
                <a:solidFill>
                  <a:srgbClr val="215968"/>
                </a:solidFill>
                <a:latin typeface="Calibri" panose="020F0502020204030204" charset="0"/>
                <a:ea typeface="DejaVu Sans"/>
              </a:rPr>
              <a:t> Para utilizar sistemas de informação de modo eficiente, é preciso modificar os processos de negócios.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1800" dirty="0">
                <a:solidFill>
                  <a:srgbClr val="215968"/>
                </a:solidFill>
                <a:latin typeface="Calibri" panose="020F0502020204030204" charset="0"/>
                <a:ea typeface="DejaVu Sans"/>
              </a:rPr>
              <a:t> </a:t>
            </a:r>
          </a:p>
          <a:p>
            <a:pPr marL="0" lvl="0" indent="0" eaLnBrk="1" hangingPunct="1">
              <a:spcBef>
                <a:spcPct val="0"/>
              </a:spcBef>
            </a:pPr>
            <a:r>
              <a:rPr lang="pt-BR" altLang="pt-BR" sz="1800" dirty="0">
                <a:solidFill>
                  <a:srgbClr val="FF0000"/>
                </a:solidFill>
                <a:latin typeface="Calibri" panose="020F0502020204030204" charset="0"/>
                <a:ea typeface="DejaVu Sans"/>
              </a:rPr>
              <a:t>Antes que os processos sejam modificados, é preciso mudar atitudes e comportamentos das pessoas, e até mesmo a própria empresa!!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endParaRPr lang="pt-BR" altLang="pt-BR" sz="1800" dirty="0">
              <a:solidFill>
                <a:srgbClr val="215968"/>
              </a:solidFill>
              <a:latin typeface="Calibri" panose="020F0502020204030204" charset="0"/>
              <a:ea typeface="DejaVu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CaixaDeTexto 1"/>
          <p:cNvSpPr txBox="1"/>
          <p:nvPr/>
        </p:nvSpPr>
        <p:spPr>
          <a:xfrm>
            <a:off x="469900" y="1066800"/>
            <a:ext cx="6718300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3600" b="1" dirty="0">
                <a:solidFill>
                  <a:schemeClr val="accent2"/>
                </a:solidFill>
                <a:latin typeface="Calibri" panose="020F0502020204030204" charset="0"/>
                <a:ea typeface="DejaVu Sans"/>
              </a:rPr>
              <a:t>Empresas e processos de negócios</a:t>
            </a:r>
          </a:p>
        </p:txBody>
      </p:sp>
      <p:sp>
        <p:nvSpPr>
          <p:cNvPr id="33795" name="CaixaDeTexto 4"/>
          <p:cNvSpPr txBox="1"/>
          <p:nvPr/>
        </p:nvSpPr>
        <p:spPr>
          <a:xfrm>
            <a:off x="458788" y="1566863"/>
            <a:ext cx="8228012" cy="3370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2100" b="1" dirty="0">
                <a:latin typeface="Calibri" panose="020F0502020204030204" charset="0"/>
                <a:ea typeface="DejaVu Sans"/>
              </a:rPr>
              <a:t>Melhoria contínua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endParaRPr lang="pt-BR" altLang="pt-BR" sz="1800" dirty="0">
              <a:solidFill>
                <a:srgbClr val="215968"/>
              </a:solidFill>
              <a:latin typeface="Calibri" panose="020F0502020204030204" charset="0"/>
              <a:ea typeface="DejaVu Sans"/>
            </a:endParaRPr>
          </a:p>
          <a:p>
            <a:pPr marL="0" lvl="0" indent="0" eaLnBrk="1" hangingPunct="1">
              <a:spcBef>
                <a:spcPct val="0"/>
              </a:spcBef>
            </a:pPr>
            <a:r>
              <a:rPr lang="pt-BR" altLang="pt-BR" sz="1800" dirty="0">
                <a:solidFill>
                  <a:srgbClr val="215968"/>
                </a:solidFill>
                <a:latin typeface="Calibri" panose="020F0502020204030204" charset="0"/>
                <a:ea typeface="DejaVu Sans"/>
              </a:rPr>
              <a:t>Gestão de processos de negócios:</a:t>
            </a:r>
          </a:p>
          <a:p>
            <a:pPr marL="0" lvl="0" indent="0" eaLnBrk="1" hangingPunct="1">
              <a:spcBef>
                <a:spcPct val="0"/>
              </a:spcBef>
            </a:pPr>
            <a:endParaRPr lang="pt-BR" altLang="pt-BR" sz="2800" dirty="0">
              <a:solidFill>
                <a:srgbClr val="215968"/>
              </a:solidFill>
              <a:latin typeface="Calibri" panose="020F0502020204030204" charset="0"/>
              <a:ea typeface="DejaVu Sans"/>
            </a:endParaRPr>
          </a:p>
          <a:p>
            <a:pPr marL="742950" lvl="1" indent="-285750" eaLnBrk="1" hangingPunct="1">
              <a:spcBef>
                <a:spcPct val="0"/>
              </a:spcBef>
            </a:pPr>
            <a:r>
              <a:rPr lang="pt-BR" altLang="pt-BR" sz="2000" dirty="0">
                <a:solidFill>
                  <a:srgbClr val="215968"/>
                </a:solidFill>
                <a:latin typeface="Calibri" panose="020F0502020204030204" charset="0"/>
                <a:ea typeface="DejaVu Sans"/>
              </a:rPr>
              <a:t>Identificar os processos a serem modificados.</a:t>
            </a:r>
          </a:p>
          <a:p>
            <a:pPr marL="742950" lvl="1" indent="-285750" eaLnBrk="1" hangingPunct="1">
              <a:spcBef>
                <a:spcPct val="0"/>
              </a:spcBef>
            </a:pPr>
            <a:r>
              <a:rPr lang="pt-BR" altLang="pt-BR" sz="2000" dirty="0">
                <a:solidFill>
                  <a:srgbClr val="215968"/>
                </a:solidFill>
                <a:latin typeface="Calibri" panose="020F0502020204030204" charset="0"/>
                <a:ea typeface="DejaVu Sans"/>
              </a:rPr>
              <a:t>Analisar os processos existentes.</a:t>
            </a:r>
          </a:p>
          <a:p>
            <a:pPr marL="742950" lvl="1" indent="-285750" eaLnBrk="1" hangingPunct="1">
              <a:spcBef>
                <a:spcPct val="0"/>
              </a:spcBef>
            </a:pPr>
            <a:r>
              <a:rPr lang="pt-BR" altLang="pt-BR" sz="2000" dirty="0">
                <a:solidFill>
                  <a:srgbClr val="215968"/>
                </a:solidFill>
                <a:latin typeface="Calibri" panose="020F0502020204030204" charset="0"/>
                <a:ea typeface="DejaVu Sans"/>
              </a:rPr>
              <a:t>Planejar o novo processo.</a:t>
            </a:r>
          </a:p>
          <a:p>
            <a:pPr marL="742950" lvl="1" indent="-285750" eaLnBrk="1" hangingPunct="1">
              <a:spcBef>
                <a:spcPct val="0"/>
              </a:spcBef>
            </a:pPr>
            <a:r>
              <a:rPr lang="pt-BR" altLang="pt-BR" sz="2000" dirty="0">
                <a:solidFill>
                  <a:srgbClr val="215968"/>
                </a:solidFill>
                <a:latin typeface="Calibri" panose="020F0502020204030204" charset="0"/>
                <a:ea typeface="DejaVu Sans"/>
              </a:rPr>
              <a:t>Implantar o novo processo.</a:t>
            </a:r>
          </a:p>
          <a:p>
            <a:pPr marL="742950" lvl="1" indent="-285750" eaLnBrk="1" hangingPunct="1">
              <a:spcBef>
                <a:spcPct val="0"/>
              </a:spcBef>
            </a:pPr>
            <a:r>
              <a:rPr lang="pt-BR" altLang="pt-BR" sz="2000" dirty="0">
                <a:solidFill>
                  <a:srgbClr val="215968"/>
                </a:solidFill>
                <a:latin typeface="Calibri" panose="020F0502020204030204" charset="0"/>
                <a:ea typeface="DejaVu Sans"/>
              </a:rPr>
              <a:t>Avaliar continuamente.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endParaRPr lang="pt-BR" altLang="pt-BR" sz="2800" dirty="0">
              <a:solidFill>
                <a:srgbClr val="215968"/>
              </a:solidFill>
              <a:latin typeface="Calibri" panose="020F0502020204030204" charset="0"/>
              <a:ea typeface="DejaVu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CaixaDeTexto 1"/>
          <p:cNvSpPr txBox="1"/>
          <p:nvPr/>
        </p:nvSpPr>
        <p:spPr>
          <a:xfrm>
            <a:off x="469900" y="1066800"/>
            <a:ext cx="6718300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3600" b="1" dirty="0">
                <a:solidFill>
                  <a:schemeClr val="accent2"/>
                </a:solidFill>
                <a:latin typeface="Calibri" panose="020F0502020204030204" charset="0"/>
                <a:ea typeface="DejaVu Sans"/>
              </a:rPr>
              <a:t>Empresas e processos de negócios</a:t>
            </a:r>
          </a:p>
        </p:txBody>
      </p:sp>
      <p:sp>
        <p:nvSpPr>
          <p:cNvPr id="35843" name="CaixaDeTexto 4"/>
          <p:cNvSpPr txBox="1"/>
          <p:nvPr/>
        </p:nvSpPr>
        <p:spPr>
          <a:xfrm>
            <a:off x="458788" y="1566863"/>
            <a:ext cx="8228012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2100" b="1" dirty="0">
                <a:latin typeface="Calibri" panose="020F0502020204030204" charset="0"/>
                <a:ea typeface="DejaVu Sans"/>
              </a:rPr>
              <a:t>Exemplo</a:t>
            </a:r>
          </a:p>
        </p:txBody>
      </p:sp>
      <p:pic>
        <p:nvPicPr>
          <p:cNvPr id="3584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2133600"/>
            <a:ext cx="7504113" cy="39576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45" name="CaixaDeTexto 1"/>
          <p:cNvSpPr txBox="1"/>
          <p:nvPr/>
        </p:nvSpPr>
        <p:spPr>
          <a:xfrm>
            <a:off x="3635375" y="6308725"/>
            <a:ext cx="2814638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pt-BR" altLang="pt-BR" sz="1800" i="1" dirty="0">
                <a:solidFill>
                  <a:srgbClr val="FF0000"/>
                </a:solidFill>
                <a:ea typeface="DejaVu Sans"/>
              </a:rPr>
              <a:t>É possível pra melhorar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CaixaDeTexto 1"/>
          <p:cNvSpPr txBox="1"/>
          <p:nvPr/>
        </p:nvSpPr>
        <p:spPr>
          <a:xfrm>
            <a:off x="469900" y="1066800"/>
            <a:ext cx="7915275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3600" b="1" dirty="0">
                <a:solidFill>
                  <a:schemeClr val="accent2"/>
                </a:solidFill>
                <a:latin typeface="Calibri" panose="020F0502020204030204" charset="0"/>
                <a:ea typeface="DejaVu Sans"/>
              </a:rPr>
              <a:t>Reengenharia de processos de negócios</a:t>
            </a:r>
          </a:p>
        </p:txBody>
      </p:sp>
      <p:sp>
        <p:nvSpPr>
          <p:cNvPr id="37891" name="CaixaDeTexto 4"/>
          <p:cNvSpPr txBox="1"/>
          <p:nvPr/>
        </p:nvSpPr>
        <p:spPr>
          <a:xfrm>
            <a:off x="458788" y="1566863"/>
            <a:ext cx="8228012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2100" b="1" dirty="0">
                <a:latin typeface="Calibri" panose="020F0502020204030204" charset="0"/>
                <a:ea typeface="DejaVu Sans"/>
              </a:rPr>
              <a:t>Atualização e Modernização</a:t>
            </a:r>
          </a:p>
        </p:txBody>
      </p:sp>
      <p:sp>
        <p:nvSpPr>
          <p:cNvPr id="8" name="Rectangle 1033"/>
          <p:cNvSpPr>
            <a:spLocks noChangeArrowheads="1"/>
          </p:cNvSpPr>
          <p:nvPr/>
        </p:nvSpPr>
        <p:spPr bwMode="auto">
          <a:xfrm>
            <a:off x="228600" y="2743200"/>
            <a:ext cx="8534400" cy="2057400"/>
          </a:xfrm>
          <a:prstGeom prst="rect">
            <a:avLst/>
          </a:prstGeom>
          <a:noFill/>
          <a:ln>
            <a:noFill/>
          </a:ln>
        </p:spPr>
        <p:txBody>
          <a:bodyPr lIns="90488" tIns="44450" rIns="90488" bIns="44450"/>
          <a:lstStyle>
            <a:lvl1pPr marL="180975" indent="-180975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80975" marR="0" lvl="0" indent="-180975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25000"/>
              </a:spcAft>
              <a:buClrTx/>
              <a:buSzTx/>
              <a:buFontTx/>
              <a:buChar char="•"/>
              <a:defRPr/>
            </a:pP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Forma radical de promover mudanças rápidas.</a:t>
            </a:r>
          </a:p>
          <a:p>
            <a:pPr marL="180975" marR="0" lvl="0" indent="-180975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25000"/>
              </a:spcAft>
              <a:buClrTx/>
              <a:buSzTx/>
              <a:buFontTx/>
              <a:buChar char="•"/>
              <a:defRPr/>
            </a:pP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Não visa à melhoria contínua, mas à eliminação de antigos processos que serão substituídos por novos em um curto espaço de tempo.</a:t>
            </a:r>
          </a:p>
          <a:p>
            <a:pPr marL="180975" marR="0" lvl="0" indent="-180975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25000"/>
              </a:spcAft>
              <a:buClrTx/>
              <a:buSzTx/>
              <a:buFontTx/>
              <a:buChar char="•"/>
              <a:defRPr/>
            </a:pP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Pode gerar ganhos drásticos em produtividade, mas aumenta a resistência organizacional às mudanças.</a:t>
            </a:r>
          </a:p>
          <a:p>
            <a:pPr marL="180975" marR="0" lvl="0" indent="-180975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25000"/>
              </a:spcAft>
              <a:buClrTx/>
              <a:buSzTx/>
              <a:buFontTx/>
              <a:buChar char="•"/>
              <a:defRPr/>
            </a:pP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Aderência da empresa às novas demandas dos negócios – manutenção no mercado ou conquista de novos mercados.</a:t>
            </a:r>
          </a:p>
          <a:p>
            <a:pPr marL="180975" marR="0" lvl="0" indent="-180975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25000"/>
              </a:spcAft>
              <a:buClrTx/>
              <a:buSzTx/>
              <a:buFontTx/>
              <a:buChar char="•"/>
              <a:defRPr/>
            </a:pP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Ou, até mesmo, aderência da empresa a uma visão mais “TI”.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25000"/>
              </a:spcAft>
              <a:buClrTx/>
              <a:buSzTx/>
              <a:buFontTx/>
              <a:buNone/>
              <a:defRPr/>
            </a:pPr>
            <a:endParaRPr kumimoji="0" lang="pt-BR" altLang="pt-BR" sz="1800" b="0" i="0" u="none" strike="noStrike" kern="1200" cap="none" spc="0" normalizeH="0" baseline="0" noProof="0" dirty="0">
              <a:ln>
                <a:noFill/>
              </a:ln>
              <a:solidFill>
                <a:srgbClr val="215968"/>
              </a:solidFill>
              <a:effectLst/>
              <a:uLnTx/>
              <a:uFillTx/>
              <a:latin typeface="Calibri" panose="020F0502020204030204" charset="0"/>
              <a:ea typeface="DejaVu Sans"/>
              <a:cs typeface="DejaVu Sans"/>
            </a:endParaRPr>
          </a:p>
          <a:p>
            <a:pPr marL="180975" marR="0" lvl="0" indent="-180975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25000"/>
              </a:spcAft>
              <a:buClrTx/>
              <a:buSzTx/>
              <a:buFontTx/>
              <a:buNone/>
              <a:defRPr/>
            </a:pPr>
            <a:endParaRPr kumimoji="0" lang="pt-BR" altLang="pt-BR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DejaVu Sans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CaixaDeTexto 1"/>
          <p:cNvSpPr txBox="1"/>
          <p:nvPr/>
        </p:nvSpPr>
        <p:spPr>
          <a:xfrm>
            <a:off x="469900" y="1066800"/>
            <a:ext cx="6718300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3600" b="1" dirty="0">
                <a:solidFill>
                  <a:schemeClr val="accent2"/>
                </a:solidFill>
                <a:latin typeface="Calibri" panose="020F0502020204030204" charset="0"/>
                <a:ea typeface="DejaVu Sans"/>
              </a:rPr>
              <a:t>Empresas e processos de negócios</a:t>
            </a:r>
          </a:p>
        </p:txBody>
      </p:sp>
      <p:sp>
        <p:nvSpPr>
          <p:cNvPr id="39939" name="CaixaDeTexto 4"/>
          <p:cNvSpPr txBox="1"/>
          <p:nvPr/>
        </p:nvSpPr>
        <p:spPr>
          <a:xfrm>
            <a:off x="458788" y="1566863"/>
            <a:ext cx="8228012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2100" b="1" dirty="0">
                <a:latin typeface="Calibri" panose="020F0502020204030204" charset="0"/>
                <a:ea typeface="DejaVu Sans"/>
              </a:rPr>
              <a:t>Exemplo (cont.)</a:t>
            </a:r>
          </a:p>
        </p:txBody>
      </p:sp>
      <p:sp>
        <p:nvSpPr>
          <p:cNvPr id="39940" name="CaixaDeTexto 1"/>
          <p:cNvSpPr txBox="1"/>
          <p:nvPr/>
        </p:nvSpPr>
        <p:spPr>
          <a:xfrm>
            <a:off x="827088" y="5589588"/>
            <a:ext cx="720407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pt-BR" altLang="pt-BR" sz="2800" i="1" dirty="0">
                <a:solidFill>
                  <a:srgbClr val="FF0000"/>
                </a:solidFill>
                <a:ea typeface="DejaVu Sans"/>
              </a:rPr>
              <a:t>Ainda é possível </a:t>
            </a:r>
            <a:r>
              <a:rPr lang="pt-BR" altLang="pt-BR" sz="2800" i="1" u="sng" dirty="0">
                <a:solidFill>
                  <a:srgbClr val="FF0000"/>
                </a:solidFill>
                <a:ea typeface="DejaVu Sans"/>
              </a:rPr>
              <a:t>melhorar</a:t>
            </a:r>
            <a:r>
              <a:rPr lang="pt-BR" altLang="pt-BR" sz="2800" i="1" dirty="0">
                <a:solidFill>
                  <a:srgbClr val="FF0000"/>
                </a:solidFill>
                <a:ea typeface="DejaVu Sans"/>
              </a:rPr>
              <a:t> mais – proposta?</a:t>
            </a:r>
          </a:p>
        </p:txBody>
      </p:sp>
      <p:pic>
        <p:nvPicPr>
          <p:cNvPr id="39941" name="Picture 11"/>
          <p:cNvPicPr>
            <a:picLocks noChangeAspect="1"/>
          </p:cNvPicPr>
          <p:nvPr/>
        </p:nvPicPr>
        <p:blipFill>
          <a:blip r:embed="rId3"/>
          <a:srcRect r="1538"/>
          <a:stretch>
            <a:fillRect/>
          </a:stretch>
        </p:blipFill>
        <p:spPr>
          <a:xfrm>
            <a:off x="673100" y="2705100"/>
            <a:ext cx="8024813" cy="25860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CaixaDeTexto 1"/>
          <p:cNvSpPr txBox="1"/>
          <p:nvPr/>
        </p:nvSpPr>
        <p:spPr>
          <a:xfrm>
            <a:off x="469900" y="1066800"/>
            <a:ext cx="7427913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3600" b="1" dirty="0">
                <a:solidFill>
                  <a:schemeClr val="accent2"/>
                </a:solidFill>
                <a:latin typeface="Calibri" panose="020F0502020204030204" charset="0"/>
                <a:ea typeface="DejaVu Sans"/>
              </a:rPr>
              <a:t>Modelagem de processos de negócios</a:t>
            </a:r>
          </a:p>
        </p:txBody>
      </p:sp>
      <p:sp>
        <p:nvSpPr>
          <p:cNvPr id="41987" name="CaixaDeTexto 4"/>
          <p:cNvSpPr txBox="1"/>
          <p:nvPr/>
        </p:nvSpPr>
        <p:spPr>
          <a:xfrm>
            <a:off x="458788" y="1566863"/>
            <a:ext cx="8228012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2100" b="1" dirty="0">
                <a:latin typeface="Calibri" panose="020F0502020204030204" charset="0"/>
                <a:ea typeface="DejaVu Sans"/>
              </a:rPr>
              <a:t>Processos e Regras de Negócios</a:t>
            </a:r>
          </a:p>
        </p:txBody>
      </p:sp>
      <p:sp>
        <p:nvSpPr>
          <p:cNvPr id="8" name="Rectangle 1033"/>
          <p:cNvSpPr>
            <a:spLocks noChangeArrowheads="1"/>
          </p:cNvSpPr>
          <p:nvPr/>
        </p:nvSpPr>
        <p:spPr bwMode="auto">
          <a:xfrm>
            <a:off x="228600" y="2133600"/>
            <a:ext cx="8534400" cy="2057400"/>
          </a:xfrm>
          <a:prstGeom prst="rect">
            <a:avLst/>
          </a:prstGeom>
          <a:noFill/>
          <a:ln>
            <a:noFill/>
          </a:ln>
        </p:spPr>
        <p:txBody>
          <a:bodyPr lIns="90488" tIns="44450" rIns="90488" bIns="44450"/>
          <a:lstStyle>
            <a:lvl1pPr marL="180975" indent="-180975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80975" marR="0" lvl="0" indent="-180975" algn="just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25000"/>
              </a:spcAft>
              <a:buClrTx/>
              <a:buSzTx/>
              <a:buFontTx/>
              <a:buChar char="•"/>
              <a:defRPr/>
            </a:pP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Segundo (ERIKSSON; PENKER, 2000) um Modelo de Negócio é uma abstração do funcionamento do próprio negócio. Tal modelo é composto por várias visões, de modo a capturar informações relevantes ao negócio. </a:t>
            </a:r>
          </a:p>
          <a:p>
            <a:pPr marL="180975" marR="0" lvl="0" indent="-180975" algn="just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25000"/>
              </a:spcAft>
              <a:buClrTx/>
              <a:buSzTx/>
              <a:buFontTx/>
              <a:buChar char="•"/>
              <a:defRPr/>
            </a:pPr>
            <a:endParaRPr kumimoji="0" lang="pt-BR" altLang="pt-BR" sz="1800" b="0" i="0" u="none" strike="noStrike" kern="1200" cap="none" spc="0" normalizeH="0" baseline="0" noProof="0" dirty="0">
              <a:ln>
                <a:noFill/>
              </a:ln>
              <a:solidFill>
                <a:srgbClr val="215968"/>
              </a:solidFill>
              <a:effectLst/>
              <a:uLnTx/>
              <a:uFillTx/>
              <a:latin typeface="Calibri" panose="020F0502020204030204" charset="0"/>
              <a:ea typeface="DejaVu Sans"/>
              <a:cs typeface="DejaVu Sans"/>
            </a:endParaRPr>
          </a:p>
          <a:p>
            <a:pPr marL="180975" marR="0" lvl="0" indent="-180975" algn="just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25000"/>
              </a:spcAft>
              <a:buClrTx/>
              <a:buSzTx/>
              <a:buFontTx/>
              <a:buChar char="•"/>
              <a:defRPr/>
            </a:pP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Portanto, </a:t>
            </a:r>
            <a:r>
              <a:rPr kumimoji="0" lang="pt-BR" alt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“Um processo de negócio representa um conjunto de atividades, iniciado por um evento, que utiliza recursos, e dirigido por regras de negócio, e entrega um resultado, criando um determinado valor para um cliente interno ou externo de uma empresa.”</a:t>
            </a:r>
          </a:p>
          <a:p>
            <a:pPr marL="180975" marR="0" lvl="0" indent="-180975" algn="just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25000"/>
              </a:spcAft>
              <a:buClrTx/>
              <a:buSzTx/>
              <a:buFontTx/>
              <a:buChar char="•"/>
              <a:defRPr/>
            </a:pPr>
            <a:endParaRPr kumimoji="0" lang="pt-BR" altLang="pt-BR" sz="1800" b="0" i="0" u="none" strike="noStrike" kern="1200" cap="none" spc="0" normalizeH="0" baseline="0" noProof="0" dirty="0">
              <a:ln>
                <a:noFill/>
              </a:ln>
              <a:solidFill>
                <a:srgbClr val="215968"/>
              </a:solidFill>
              <a:effectLst/>
              <a:uLnTx/>
              <a:uFillTx/>
              <a:latin typeface="Calibri" panose="020F0502020204030204" charset="0"/>
              <a:ea typeface="DejaVu Sans"/>
              <a:cs typeface="DejaVu Sans"/>
            </a:endParaRPr>
          </a:p>
          <a:p>
            <a:pPr marL="180975" marR="0" lvl="0" indent="-180975" algn="just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25000"/>
              </a:spcAft>
              <a:buClrTx/>
              <a:buSzTx/>
              <a:buFontTx/>
              <a:buChar char="•"/>
              <a:defRPr/>
            </a:pP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Cada visão é formada por diagramas que mostram uma parte específica da estrutura ou situação do negócio e expressam as relações entre os vários objetos do negócio: </a:t>
            </a:r>
            <a:r>
              <a:rPr kumimoji="0" lang="pt-BR" alt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objetivos, processos, recursos e regras</a:t>
            </a: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.</a:t>
            </a:r>
          </a:p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25000"/>
              </a:spcAft>
              <a:buClrTx/>
              <a:buSzTx/>
              <a:buFontTx/>
              <a:buNone/>
              <a:defRPr/>
            </a:pPr>
            <a:endParaRPr kumimoji="0" lang="pt-BR" altLang="pt-BR" sz="1800" b="0" i="0" u="none" strike="noStrike" kern="1200" cap="none" spc="0" normalizeH="0" baseline="0" noProof="0" dirty="0">
              <a:ln>
                <a:noFill/>
              </a:ln>
              <a:solidFill>
                <a:srgbClr val="215968"/>
              </a:solidFill>
              <a:effectLst/>
              <a:uLnTx/>
              <a:uFillTx/>
              <a:latin typeface="Calibri" panose="020F0502020204030204" charset="0"/>
              <a:ea typeface="DejaVu Sans"/>
              <a:cs typeface="DejaVu Sans"/>
            </a:endParaRPr>
          </a:p>
          <a:p>
            <a:pPr marL="180975" marR="0" lvl="0" indent="-180975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25000"/>
              </a:spcAft>
              <a:buClrTx/>
              <a:buSzTx/>
              <a:buFontTx/>
              <a:buNone/>
              <a:defRPr/>
            </a:pPr>
            <a:endParaRPr kumimoji="0" lang="pt-BR" altLang="pt-BR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DejaVu Sans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CaixaDeTexto 1"/>
          <p:cNvSpPr txBox="1"/>
          <p:nvPr/>
        </p:nvSpPr>
        <p:spPr>
          <a:xfrm>
            <a:off x="469900" y="1066800"/>
            <a:ext cx="7427913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3600" b="1" dirty="0">
                <a:solidFill>
                  <a:schemeClr val="accent2"/>
                </a:solidFill>
                <a:latin typeface="Calibri" panose="020F0502020204030204" charset="0"/>
                <a:ea typeface="DejaVu Sans"/>
              </a:rPr>
              <a:t>Modelagem de processos de negócios</a:t>
            </a:r>
          </a:p>
        </p:txBody>
      </p:sp>
      <p:sp>
        <p:nvSpPr>
          <p:cNvPr id="44035" name="CaixaDeTexto 4"/>
          <p:cNvSpPr txBox="1"/>
          <p:nvPr/>
        </p:nvSpPr>
        <p:spPr>
          <a:xfrm>
            <a:off x="458788" y="1566863"/>
            <a:ext cx="8228012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2100" b="1" dirty="0">
                <a:latin typeface="Calibri" panose="020F0502020204030204" charset="0"/>
                <a:ea typeface="DejaVu Sans"/>
              </a:rPr>
              <a:t>Objetivos, Processos, Regras e Recursos</a:t>
            </a:r>
          </a:p>
        </p:txBody>
      </p:sp>
      <p:graphicFrame>
        <p:nvGraphicFramePr>
          <p:cNvPr id="44036" name="Object 5"/>
          <p:cNvGraphicFramePr>
            <a:graphicFrameLocks noChangeAspect="1"/>
          </p:cNvGraphicFramePr>
          <p:nvPr/>
        </p:nvGraphicFramePr>
        <p:xfrm>
          <a:off x="1979613" y="2420938"/>
          <a:ext cx="5029200" cy="394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105400" imgH="4000500" progId="Paint.Picture">
                  <p:embed/>
                </p:oleObj>
              </mc:Choice>
              <mc:Fallback>
                <p:oleObj r:id="rId3" imgW="5105400" imgH="4000500" progId="Paint.Picture">
                  <p:embed/>
                  <p:pic>
                    <p:nvPicPr>
                      <p:cNvPr id="0" name="Imagem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79613" y="2420938"/>
                        <a:ext cx="5029200" cy="3940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CaixaDeTexto 1"/>
          <p:cNvSpPr txBox="1"/>
          <p:nvPr/>
        </p:nvSpPr>
        <p:spPr>
          <a:xfrm>
            <a:off x="469900" y="1066800"/>
            <a:ext cx="7427913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3600" b="1" dirty="0">
                <a:solidFill>
                  <a:schemeClr val="accent2"/>
                </a:solidFill>
                <a:latin typeface="Calibri" panose="020F0502020204030204" charset="0"/>
                <a:ea typeface="DejaVu Sans"/>
              </a:rPr>
              <a:t>Modelagem de processos de negócios</a:t>
            </a:r>
          </a:p>
        </p:txBody>
      </p:sp>
      <p:sp>
        <p:nvSpPr>
          <p:cNvPr id="46083" name="CaixaDeTexto 4"/>
          <p:cNvSpPr txBox="1"/>
          <p:nvPr/>
        </p:nvSpPr>
        <p:spPr>
          <a:xfrm>
            <a:off x="458788" y="1566863"/>
            <a:ext cx="8228012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2100" b="1" dirty="0">
                <a:solidFill>
                  <a:srgbClr val="FF0000"/>
                </a:solidFill>
                <a:latin typeface="Calibri" panose="020F0502020204030204" charset="0"/>
                <a:ea typeface="DejaVu Sans"/>
              </a:rPr>
              <a:t>Objetivos</a:t>
            </a:r>
            <a:r>
              <a:rPr lang="pt-BR" altLang="pt-BR" sz="2100" b="1" dirty="0">
                <a:latin typeface="Calibri" panose="020F0502020204030204" charset="0"/>
                <a:ea typeface="DejaVu Sans"/>
              </a:rPr>
              <a:t>, Processos, Regras e Recursos</a:t>
            </a:r>
          </a:p>
        </p:txBody>
      </p:sp>
      <p:sp>
        <p:nvSpPr>
          <p:cNvPr id="46084" name="Rectangle 4"/>
          <p:cNvSpPr/>
          <p:nvPr/>
        </p:nvSpPr>
        <p:spPr>
          <a:xfrm>
            <a:off x="574675" y="2767013"/>
            <a:ext cx="8461375" cy="303847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pt-BR" sz="2000" b="1" dirty="0">
                <a:solidFill>
                  <a:srgbClr val="FF0000"/>
                </a:solidFill>
                <a:latin typeface="Helvetica" pitchFamily="34" charset="0"/>
                <a:cs typeface="Helvetica" pitchFamily="34" charset="0"/>
              </a:rPr>
              <a:t>Objetivos</a:t>
            </a:r>
            <a:endParaRPr lang="pt-BR" altLang="pt-BR" sz="2000" dirty="0">
              <a:solidFill>
                <a:srgbClr val="FF0000"/>
              </a:solidFill>
              <a:latin typeface="Helvetica" pitchFamily="34" charset="0"/>
              <a:cs typeface="Helvetica" pitchFamily="34" charset="0"/>
            </a:endParaRPr>
          </a:p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endParaRPr lang="pt-BR" altLang="pt-BR" sz="2000" dirty="0">
              <a:latin typeface="Helvetica" pitchFamily="34" charset="0"/>
              <a:ea typeface="DejaVu Sans"/>
            </a:endParaRPr>
          </a:p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pt-BR" altLang="pt-BR" sz="2000" dirty="0">
                <a:latin typeface="Helvetica" pitchFamily="34" charset="0"/>
                <a:ea typeface="DejaVu Sans"/>
              </a:rPr>
              <a:t>Refere-se a “para que o Processo existe”. Uma vez aplicadas as regras de negócio durante os processos e consumidos/utilizados os recursos, o que se espera que o Processo de Negócio tenha conseguido. Portanto, identifica uma ação transformadora e de valor ao Negócio.</a:t>
            </a:r>
          </a:p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endParaRPr lang="pt-BR" altLang="pt-BR" sz="2000" dirty="0">
              <a:latin typeface="Helvetica" pitchFamily="34" charset="0"/>
              <a:ea typeface="DejaVu Sans"/>
            </a:endParaRPr>
          </a:p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pt-BR" altLang="pt-BR" sz="2000" dirty="0">
                <a:latin typeface="Helvetica" pitchFamily="34" charset="0"/>
                <a:ea typeface="DejaVu Sans"/>
              </a:rPr>
              <a:t>Exemplo de Objetivo: </a:t>
            </a:r>
            <a:r>
              <a:rPr lang="pt-BR" altLang="pt-BR" sz="2000" dirty="0">
                <a:solidFill>
                  <a:srgbClr val="FF0000"/>
                </a:solidFill>
                <a:latin typeface="Helvetica" pitchFamily="34" charset="0"/>
                <a:ea typeface="DejaVu Sans"/>
              </a:rPr>
              <a:t>“Obter Pedidos de Clientes”</a:t>
            </a:r>
          </a:p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endParaRPr lang="pt-BR" altLang="pt-BR" sz="2000" dirty="0">
              <a:latin typeface="Helvetica" pitchFamily="34" charset="0"/>
              <a:ea typeface="DejaVu Sans"/>
            </a:endParaRPr>
          </a:p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endParaRPr lang="pt-BR" altLang="pt-BR" sz="2000" dirty="0">
              <a:latin typeface="Helvetica" pitchFamily="34" charset="0"/>
              <a:ea typeface="DejaVu Sans"/>
            </a:endParaRPr>
          </a:p>
        </p:txBody>
      </p:sp>
      <p:graphicFrame>
        <p:nvGraphicFramePr>
          <p:cNvPr id="46085" name="Object 5"/>
          <p:cNvGraphicFramePr>
            <a:graphicFrameLocks noChangeAspect="1"/>
          </p:cNvGraphicFramePr>
          <p:nvPr/>
        </p:nvGraphicFramePr>
        <p:xfrm>
          <a:off x="7667625" y="1770063"/>
          <a:ext cx="1233488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105400" imgH="4000500" progId="Paint.Picture">
                  <p:embed/>
                </p:oleObj>
              </mc:Choice>
              <mc:Fallback>
                <p:oleObj r:id="rId3" imgW="5105400" imgH="4000500" progId="Paint.Picture">
                  <p:embed/>
                  <p:pic>
                    <p:nvPicPr>
                      <p:cNvPr id="0" name="Imagem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67625" y="1770063"/>
                        <a:ext cx="1233488" cy="966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CaixaDeTexto 1"/>
          <p:cNvSpPr txBox="1"/>
          <p:nvPr/>
        </p:nvSpPr>
        <p:spPr>
          <a:xfrm>
            <a:off x="469900" y="1066800"/>
            <a:ext cx="7427913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3600" b="1" dirty="0">
                <a:solidFill>
                  <a:schemeClr val="accent2"/>
                </a:solidFill>
                <a:latin typeface="Calibri" panose="020F0502020204030204" charset="0"/>
                <a:ea typeface="DejaVu Sans"/>
              </a:rPr>
              <a:t>Modelagem de processos de negócios</a:t>
            </a:r>
          </a:p>
        </p:txBody>
      </p:sp>
      <p:sp>
        <p:nvSpPr>
          <p:cNvPr id="48131" name="CaixaDeTexto 4"/>
          <p:cNvSpPr txBox="1"/>
          <p:nvPr/>
        </p:nvSpPr>
        <p:spPr>
          <a:xfrm>
            <a:off x="458788" y="1566863"/>
            <a:ext cx="8228012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2100" b="1" dirty="0">
                <a:latin typeface="Calibri" panose="020F0502020204030204" charset="0"/>
                <a:ea typeface="DejaVu Sans"/>
              </a:rPr>
              <a:t>Objetivos, </a:t>
            </a:r>
            <a:r>
              <a:rPr lang="pt-BR" altLang="pt-BR" sz="2100" b="1" dirty="0">
                <a:solidFill>
                  <a:srgbClr val="FF0000"/>
                </a:solidFill>
                <a:latin typeface="Calibri" panose="020F0502020204030204" charset="0"/>
                <a:ea typeface="DejaVu Sans"/>
              </a:rPr>
              <a:t>Processos</a:t>
            </a:r>
            <a:r>
              <a:rPr lang="pt-BR" altLang="pt-BR" sz="2100" b="1" dirty="0">
                <a:latin typeface="Calibri" panose="020F0502020204030204" charset="0"/>
                <a:ea typeface="DejaVu Sans"/>
              </a:rPr>
              <a:t>, Regras e Recursos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74675" y="1989138"/>
            <a:ext cx="8461375" cy="3038475"/>
          </a:xfrm>
          <a:prstGeom prst="rect">
            <a:avLst/>
          </a:prstGeom>
          <a:noFill/>
          <a:ln>
            <a:noFill/>
          </a:ln>
        </p:spPr>
        <p:txBody>
          <a:bodyPr lIns="92075" tIns="46038" rIns="92075" bIns="46038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pt-BR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pitchFamily="34" charset="0"/>
                <a:ea typeface="Helvetica" pitchFamily="34" charset="0"/>
                <a:cs typeface="Helvetica" pitchFamily="34" charset="0"/>
              </a:rPr>
              <a:t>Processos</a:t>
            </a:r>
            <a:endParaRPr kumimoji="1" lang="pt-BR" altLang="pt-BR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elvetica" pitchFamily="34" charset="0"/>
              <a:ea typeface="Helvetica" pitchFamily="34" charset="0"/>
              <a:cs typeface="Helvetica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pt-BR" altLang="pt-BR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34" charset="0"/>
              <a:ea typeface="DejaVu Sans"/>
              <a:cs typeface="DejaVu Sans"/>
            </a:endParaRPr>
          </a:p>
          <a:p>
            <a:pPr marL="0" marR="0" lvl="0" indent="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pt-BR" altLang="pt-BR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34" charset="0"/>
                <a:ea typeface="DejaVu Sans"/>
                <a:cs typeface="DejaVu Sans"/>
              </a:rPr>
              <a:t>Processos são “passos” ou atividades que devam ser executados para atingir os Objetivos. Por exemplo, para </a:t>
            </a:r>
            <a:r>
              <a:rPr kumimoji="1" lang="pt-BR" alt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pitchFamily="34" charset="0"/>
                <a:ea typeface="DejaVu Sans"/>
                <a:cs typeface="DejaVu Sans"/>
              </a:rPr>
              <a:t>“Obter Pedidos de Clientes”</a:t>
            </a:r>
            <a:r>
              <a:rPr kumimoji="1" lang="pt-BR" altLang="pt-BR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34" charset="0"/>
                <a:ea typeface="DejaVu Sans"/>
                <a:cs typeface="DejaVu Sans"/>
              </a:rPr>
              <a:t>, a seguir os passos que o cliente deve realizar:</a:t>
            </a:r>
          </a:p>
          <a:p>
            <a:pPr marL="0" marR="0" lvl="0" indent="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pt-BR" altLang="pt-BR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34" charset="0"/>
              <a:ea typeface="DejaVu Sans"/>
              <a:cs typeface="DejaVu Sans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1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pitchFamily="34" charset="0"/>
                <a:ea typeface="DejaVu Sans"/>
                <a:cs typeface="DejaVu Sans"/>
              </a:rPr>
              <a:t>Cadastrar-se no site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1" lang="pt-BR" altLang="pt-B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pitchFamily="34" charset="0"/>
                <a:ea typeface="DejaVu Sans"/>
                <a:cs typeface="DejaVu Sans"/>
              </a:rPr>
              <a:t>Logar</a:t>
            </a:r>
            <a:endParaRPr kumimoji="1" lang="pt-BR" altLang="pt-BR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elvetica" pitchFamily="34" charset="0"/>
              <a:ea typeface="DejaVu Sans"/>
              <a:cs typeface="DejaVu Sans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1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pitchFamily="34" charset="0"/>
                <a:ea typeface="DejaVu Sans"/>
                <a:cs typeface="DejaVu Sans"/>
              </a:rPr>
              <a:t>Acessar catálogo de produtos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1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pitchFamily="34" charset="0"/>
                <a:ea typeface="DejaVu Sans"/>
                <a:cs typeface="DejaVu Sans"/>
              </a:rPr>
              <a:t>Selecionar os produtos desejados e indicar quantidade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1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pitchFamily="34" charset="0"/>
                <a:ea typeface="DejaVu Sans"/>
                <a:cs typeface="DejaVu Sans"/>
              </a:rPr>
              <a:t>Adicionar ao carrinho de compras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1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pitchFamily="34" charset="0"/>
                <a:ea typeface="DejaVu Sans"/>
                <a:cs typeface="DejaVu Sans"/>
              </a:rPr>
              <a:t>Se selecionou tudo, ir para o passo 7, senão, ir para o passo 3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1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pitchFamily="34" charset="0"/>
                <a:ea typeface="DejaVu Sans"/>
                <a:cs typeface="DejaVu Sans"/>
              </a:rPr>
              <a:t>Fechar Pedido</a:t>
            </a:r>
          </a:p>
        </p:txBody>
      </p:sp>
      <p:graphicFrame>
        <p:nvGraphicFramePr>
          <p:cNvPr id="48133" name="Object 5"/>
          <p:cNvGraphicFramePr>
            <a:graphicFrameLocks noChangeAspect="1"/>
          </p:cNvGraphicFramePr>
          <p:nvPr/>
        </p:nvGraphicFramePr>
        <p:xfrm>
          <a:off x="7667625" y="1598613"/>
          <a:ext cx="1233488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105400" imgH="4000500" progId="Paint.Picture">
                  <p:embed/>
                </p:oleObj>
              </mc:Choice>
              <mc:Fallback>
                <p:oleObj r:id="rId3" imgW="5105400" imgH="4000500" progId="Paint.Picture">
                  <p:embed/>
                  <p:pic>
                    <p:nvPicPr>
                      <p:cNvPr id="0" name="Imagem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67625" y="1598613"/>
                        <a:ext cx="1233488" cy="966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CaixaDeTexto 1"/>
          <p:cNvSpPr txBox="1"/>
          <p:nvPr/>
        </p:nvSpPr>
        <p:spPr>
          <a:xfrm>
            <a:off x="469900" y="1066800"/>
            <a:ext cx="7427913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3600" b="1" dirty="0">
                <a:solidFill>
                  <a:schemeClr val="accent2"/>
                </a:solidFill>
                <a:latin typeface="Calibri" panose="020F0502020204030204" charset="0"/>
                <a:ea typeface="DejaVu Sans"/>
              </a:rPr>
              <a:t>Modelagem de processos de negócios</a:t>
            </a:r>
          </a:p>
        </p:txBody>
      </p:sp>
      <p:sp>
        <p:nvSpPr>
          <p:cNvPr id="50179" name="CaixaDeTexto 4"/>
          <p:cNvSpPr txBox="1"/>
          <p:nvPr/>
        </p:nvSpPr>
        <p:spPr>
          <a:xfrm>
            <a:off x="458788" y="1566863"/>
            <a:ext cx="8228012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2100" b="1" dirty="0">
                <a:latin typeface="Calibri" panose="020F0502020204030204" charset="0"/>
                <a:ea typeface="DejaVu Sans"/>
              </a:rPr>
              <a:t>Objetivos, Processos, </a:t>
            </a:r>
            <a:r>
              <a:rPr lang="pt-BR" altLang="pt-BR" sz="2100" b="1" dirty="0">
                <a:solidFill>
                  <a:srgbClr val="FF0000"/>
                </a:solidFill>
                <a:latin typeface="Calibri" panose="020F0502020204030204" charset="0"/>
                <a:ea typeface="DejaVu Sans"/>
              </a:rPr>
              <a:t>Regras</a:t>
            </a:r>
            <a:r>
              <a:rPr lang="pt-BR" altLang="pt-BR" sz="2100" b="1" dirty="0">
                <a:latin typeface="Calibri" panose="020F0502020204030204" charset="0"/>
                <a:ea typeface="DejaVu Sans"/>
              </a:rPr>
              <a:t> e Recursos</a:t>
            </a:r>
          </a:p>
        </p:txBody>
      </p:sp>
      <p:sp>
        <p:nvSpPr>
          <p:cNvPr id="50180" name="Rectangle 4"/>
          <p:cNvSpPr/>
          <p:nvPr/>
        </p:nvSpPr>
        <p:spPr>
          <a:xfrm>
            <a:off x="574675" y="1989138"/>
            <a:ext cx="8461375" cy="303847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pt-BR" sz="2000" b="1" dirty="0">
                <a:solidFill>
                  <a:srgbClr val="FF0000"/>
                </a:solidFill>
                <a:latin typeface="Helvetica" pitchFamily="34" charset="0"/>
                <a:cs typeface="Helvetica" pitchFamily="34" charset="0"/>
              </a:rPr>
              <a:t>Regras de Negócio</a:t>
            </a:r>
            <a:endParaRPr lang="pt-BR" altLang="pt-BR" sz="2000" dirty="0">
              <a:solidFill>
                <a:srgbClr val="FF0000"/>
              </a:solidFill>
              <a:latin typeface="Helvetica" pitchFamily="34" charset="0"/>
              <a:cs typeface="Helvetica" pitchFamily="34" charset="0"/>
            </a:endParaRPr>
          </a:p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endParaRPr lang="pt-BR" altLang="pt-BR" sz="1100" dirty="0">
              <a:latin typeface="Helvetica" pitchFamily="34" charset="0"/>
              <a:ea typeface="DejaVu Sans"/>
            </a:endParaRPr>
          </a:p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pt-BR" altLang="pt-BR" sz="2000" dirty="0">
                <a:latin typeface="Helvetica" pitchFamily="34" charset="0"/>
                <a:ea typeface="DejaVu Sans"/>
              </a:rPr>
              <a:t>Dentre os objetos citados, as regras vêm merecendo cada vez mais destaque. A possibilidade de serem utilizadas no desenvolvimento de aplicações mais flexíveis e menos sensíveis a mudanças tornou as regras um artefato popular entre a comunidade de sistemas de informação. </a:t>
            </a:r>
          </a:p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endParaRPr lang="pt-BR" altLang="pt-BR" sz="2000" dirty="0">
              <a:latin typeface="Helvetica" pitchFamily="34" charset="0"/>
              <a:ea typeface="DejaVu Sans"/>
            </a:endParaRPr>
          </a:p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pt-BR" altLang="pt-BR" sz="2000" dirty="0">
                <a:latin typeface="Helvetica" pitchFamily="34" charset="0"/>
                <a:ea typeface="DejaVu Sans"/>
              </a:rPr>
              <a:t>Sendo assim, observa-se que as Regras de Negócio podem ser definidas sob duas perspectivas: </a:t>
            </a:r>
          </a:p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endParaRPr lang="pt-BR" altLang="pt-BR" sz="2000" dirty="0">
              <a:latin typeface="Helvetica" pitchFamily="34" charset="0"/>
              <a:ea typeface="DejaVu Sans"/>
            </a:endParaRPr>
          </a:p>
          <a:p>
            <a:pPr marL="1143000" lvl="2" indent="-228600"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2000" dirty="0">
                <a:latin typeface="Helvetica" pitchFamily="34" charset="0"/>
                <a:ea typeface="DejaVu Sans"/>
              </a:rPr>
              <a:t>Sob a perspectiva do </a:t>
            </a:r>
            <a:r>
              <a:rPr lang="pt-BR" altLang="pt-BR" sz="2000" b="1" dirty="0">
                <a:solidFill>
                  <a:srgbClr val="FF0000"/>
                </a:solidFill>
                <a:latin typeface="Helvetica" pitchFamily="34" charset="0"/>
                <a:ea typeface="DejaVu Sans"/>
              </a:rPr>
              <a:t>Negócio</a:t>
            </a:r>
          </a:p>
          <a:p>
            <a:pPr marL="1143000" lvl="2" indent="-228600"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2000" dirty="0">
                <a:latin typeface="Helvetica" pitchFamily="34" charset="0"/>
                <a:ea typeface="DejaVu Sans"/>
              </a:rPr>
              <a:t>Sob a perspectiva de </a:t>
            </a:r>
            <a:r>
              <a:rPr lang="pt-BR" altLang="pt-BR" sz="2000" b="1" dirty="0">
                <a:solidFill>
                  <a:srgbClr val="FF0000"/>
                </a:solidFill>
                <a:latin typeface="Helvetica" pitchFamily="34" charset="0"/>
                <a:ea typeface="DejaVu Sans"/>
              </a:rPr>
              <a:t>Sistemas de Informação</a:t>
            </a:r>
          </a:p>
        </p:txBody>
      </p:sp>
      <p:graphicFrame>
        <p:nvGraphicFramePr>
          <p:cNvPr id="50181" name="Object 5"/>
          <p:cNvGraphicFramePr>
            <a:graphicFrameLocks noChangeAspect="1"/>
          </p:cNvGraphicFramePr>
          <p:nvPr/>
        </p:nvGraphicFramePr>
        <p:xfrm>
          <a:off x="7667625" y="1598613"/>
          <a:ext cx="1233488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105400" imgH="4000500" progId="Paint.Picture">
                  <p:embed/>
                </p:oleObj>
              </mc:Choice>
              <mc:Fallback>
                <p:oleObj r:id="rId3" imgW="5105400" imgH="4000500" progId="Paint.Picture">
                  <p:embed/>
                  <p:pic>
                    <p:nvPicPr>
                      <p:cNvPr id="0" name="Imagem 3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67625" y="1598613"/>
                        <a:ext cx="1233488" cy="966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CaixaDeTexto 1"/>
          <p:cNvSpPr txBox="1"/>
          <p:nvPr/>
        </p:nvSpPr>
        <p:spPr>
          <a:xfrm>
            <a:off x="469900" y="1066800"/>
            <a:ext cx="7427913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3600" b="1" dirty="0">
                <a:solidFill>
                  <a:schemeClr val="accent2"/>
                </a:solidFill>
                <a:latin typeface="Calibri" panose="020F0502020204030204" charset="0"/>
                <a:ea typeface="DejaVu Sans"/>
              </a:rPr>
              <a:t>Modelagem de processos de negócios</a:t>
            </a:r>
          </a:p>
        </p:txBody>
      </p:sp>
      <p:sp>
        <p:nvSpPr>
          <p:cNvPr id="52227" name="CaixaDeTexto 4"/>
          <p:cNvSpPr txBox="1"/>
          <p:nvPr/>
        </p:nvSpPr>
        <p:spPr>
          <a:xfrm>
            <a:off x="458788" y="1566863"/>
            <a:ext cx="8228012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2100" b="1" dirty="0">
                <a:latin typeface="Calibri" panose="020F0502020204030204" charset="0"/>
                <a:ea typeface="DejaVu Sans"/>
              </a:rPr>
              <a:t>Objetivos, Processos, </a:t>
            </a:r>
            <a:r>
              <a:rPr lang="pt-BR" altLang="pt-BR" sz="2100" b="1" dirty="0">
                <a:solidFill>
                  <a:srgbClr val="FF0000"/>
                </a:solidFill>
                <a:latin typeface="Calibri" panose="020F0502020204030204" charset="0"/>
                <a:ea typeface="DejaVu Sans"/>
              </a:rPr>
              <a:t>Regras</a:t>
            </a:r>
            <a:r>
              <a:rPr lang="pt-BR" altLang="pt-BR" sz="2100" b="1" dirty="0">
                <a:latin typeface="Calibri" panose="020F0502020204030204" charset="0"/>
                <a:ea typeface="DejaVu Sans"/>
              </a:rPr>
              <a:t> e Recursos</a:t>
            </a:r>
          </a:p>
        </p:txBody>
      </p:sp>
      <p:sp>
        <p:nvSpPr>
          <p:cNvPr id="52228" name="Rectangle 4"/>
          <p:cNvSpPr/>
          <p:nvPr/>
        </p:nvSpPr>
        <p:spPr>
          <a:xfrm>
            <a:off x="574675" y="1989138"/>
            <a:ext cx="8461375" cy="303847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pt-BR" sz="2000" b="1" dirty="0">
                <a:solidFill>
                  <a:srgbClr val="FF0000"/>
                </a:solidFill>
                <a:latin typeface="Helvetica" pitchFamily="34" charset="0"/>
                <a:cs typeface="Helvetica" pitchFamily="34" charset="0"/>
              </a:rPr>
              <a:t>Regras de Negócio</a:t>
            </a:r>
            <a:endParaRPr lang="pt-BR" altLang="pt-BR" sz="2000" dirty="0">
              <a:solidFill>
                <a:srgbClr val="FF0000"/>
              </a:solidFill>
              <a:latin typeface="Helvetica" pitchFamily="34" charset="0"/>
              <a:cs typeface="Helvetica" pitchFamily="34" charset="0"/>
            </a:endParaRPr>
          </a:p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endParaRPr lang="pt-BR" altLang="pt-BR" sz="1100" dirty="0">
              <a:latin typeface="Helvetica" pitchFamily="34" charset="0"/>
              <a:ea typeface="DejaVu Sans"/>
            </a:endParaRPr>
          </a:p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pt-BR" altLang="pt-BR" sz="1600" dirty="0">
                <a:latin typeface="Helvetica" pitchFamily="34" charset="0"/>
                <a:ea typeface="DejaVu Sans"/>
              </a:rPr>
              <a:t>Sob a perspectiva do </a:t>
            </a:r>
            <a:r>
              <a:rPr lang="pt-BR" altLang="pt-BR" sz="1600" b="1" dirty="0">
                <a:solidFill>
                  <a:srgbClr val="FF0000"/>
                </a:solidFill>
                <a:latin typeface="Helvetica" pitchFamily="34" charset="0"/>
                <a:ea typeface="DejaVu Sans"/>
              </a:rPr>
              <a:t>Negócio:</a:t>
            </a:r>
            <a:endParaRPr lang="pt-BR" altLang="pt-BR" sz="1600" dirty="0">
              <a:latin typeface="Helvetica" pitchFamily="34" charset="0"/>
              <a:ea typeface="DejaVu Sans"/>
            </a:endParaRPr>
          </a:p>
          <a:p>
            <a:pPr marL="742950" lvl="1" indent="-28575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pt-BR" altLang="pt-BR" sz="1600" dirty="0">
                <a:latin typeface="Helvetica" pitchFamily="34" charset="0"/>
                <a:ea typeface="DejaVu Sans"/>
              </a:rPr>
              <a:t>	São “diretivas que visam influenciar ou guiar o comportamento do negócio - existem como suporte a políticas do negócio, formuladas em resposta a riscos, ameaças ou oportunidades”. Assim, as regras atenderiam diretamente às pessoas que lidam com o negócio, servindo como guias em questões que possam aparecer. Nesse contexto, as Regras de negócio dizem respeito a procedimentos ou comportamentos.</a:t>
            </a:r>
          </a:p>
          <a:p>
            <a:pPr marL="742950" lvl="1" indent="-285750" algn="just">
              <a:lnSpc>
                <a:spcPct val="120000"/>
              </a:lnSpc>
              <a:spcBef>
                <a:spcPct val="0"/>
              </a:spcBef>
              <a:buNone/>
            </a:pPr>
            <a:endParaRPr lang="pt-BR" altLang="pt-BR" sz="1600" dirty="0">
              <a:latin typeface="Helvetica" pitchFamily="34" charset="0"/>
              <a:ea typeface="DejaVu Sans"/>
            </a:endParaRPr>
          </a:p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pt-BR" altLang="pt-BR" sz="1600" dirty="0">
                <a:latin typeface="Helvetica" pitchFamily="34" charset="0"/>
                <a:ea typeface="DejaVu Sans"/>
              </a:rPr>
              <a:t>Sob a perspectiva de </a:t>
            </a:r>
            <a:r>
              <a:rPr lang="pt-BR" altLang="pt-BR" sz="1600" b="1" dirty="0">
                <a:solidFill>
                  <a:srgbClr val="FF0000"/>
                </a:solidFill>
                <a:latin typeface="Helvetica" pitchFamily="34" charset="0"/>
                <a:ea typeface="DejaVu Sans"/>
              </a:rPr>
              <a:t>Sistemas de Informação:</a:t>
            </a:r>
          </a:p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endParaRPr lang="pt-BR" altLang="pt-BR" sz="900" dirty="0">
              <a:latin typeface="Helvetica" pitchFamily="34" charset="0"/>
              <a:ea typeface="DejaVu Sans"/>
            </a:endParaRPr>
          </a:p>
          <a:p>
            <a:pPr marL="742950" lvl="1" indent="-28575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pt-BR" altLang="pt-BR" sz="1600" dirty="0">
                <a:latin typeface="Helvetica" pitchFamily="34" charset="0"/>
                <a:ea typeface="DejaVu Sans"/>
              </a:rPr>
              <a:t>	É “uma sentença que define ou restringe algum aspecto do negócio (...) sua intenção é manter a estrutura do negócio, controlar ou influenciar algum aspecto do negócio”. Nesse contexto, as Regras de Negócio dizem respeito aos </a:t>
            </a:r>
            <a:r>
              <a:rPr lang="pt-BR" altLang="pt-BR" sz="1600" dirty="0">
                <a:solidFill>
                  <a:srgbClr val="FF0000"/>
                </a:solidFill>
                <a:latin typeface="Helvetica" pitchFamily="34" charset="0"/>
                <a:ea typeface="DejaVu Sans"/>
              </a:rPr>
              <a:t>“dados que podem ser cadastrados em um sistema de informação”.</a:t>
            </a:r>
          </a:p>
          <a:p>
            <a:pPr marL="742950" lvl="1" indent="-285750" algn="just">
              <a:lnSpc>
                <a:spcPct val="120000"/>
              </a:lnSpc>
              <a:spcBef>
                <a:spcPct val="0"/>
              </a:spcBef>
              <a:buNone/>
            </a:pPr>
            <a:endParaRPr lang="pt-BR" altLang="pt-BR" sz="1600" dirty="0">
              <a:latin typeface="Helvetica" pitchFamily="34" charset="0"/>
              <a:ea typeface="DejaVu Sans"/>
            </a:endParaRPr>
          </a:p>
        </p:txBody>
      </p:sp>
      <p:graphicFrame>
        <p:nvGraphicFramePr>
          <p:cNvPr id="52229" name="Object 5"/>
          <p:cNvGraphicFramePr>
            <a:graphicFrameLocks noChangeAspect="1"/>
          </p:cNvGraphicFramePr>
          <p:nvPr/>
        </p:nvGraphicFramePr>
        <p:xfrm>
          <a:off x="7667625" y="1598613"/>
          <a:ext cx="1233488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105400" imgH="4000500" progId="Paint.Picture">
                  <p:embed/>
                </p:oleObj>
              </mc:Choice>
              <mc:Fallback>
                <p:oleObj r:id="rId3" imgW="5105400" imgH="4000500" progId="Paint.Picture">
                  <p:embed/>
                  <p:pic>
                    <p:nvPicPr>
                      <p:cNvPr id="0" name="Imagem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67625" y="1598613"/>
                        <a:ext cx="1233488" cy="966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eta: para a Direita 1"/>
          <p:cNvSpPr/>
          <p:nvPr/>
        </p:nvSpPr>
        <p:spPr>
          <a:xfrm rot="9324891">
            <a:off x="5153025" y="4676775"/>
            <a:ext cx="1081088" cy="4937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CaixaDeTexto 1"/>
          <p:cNvSpPr txBox="1"/>
          <p:nvPr/>
        </p:nvSpPr>
        <p:spPr>
          <a:xfrm>
            <a:off x="469900" y="1066800"/>
            <a:ext cx="7427913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3600" b="1" dirty="0">
                <a:solidFill>
                  <a:schemeClr val="accent2"/>
                </a:solidFill>
                <a:latin typeface="Calibri" panose="020F0502020204030204" charset="0"/>
                <a:ea typeface="DejaVu Sans"/>
              </a:rPr>
              <a:t>Modelagem de processos de negócios</a:t>
            </a:r>
          </a:p>
        </p:txBody>
      </p:sp>
      <p:sp>
        <p:nvSpPr>
          <p:cNvPr id="54275" name="CaixaDeTexto 4"/>
          <p:cNvSpPr txBox="1"/>
          <p:nvPr/>
        </p:nvSpPr>
        <p:spPr>
          <a:xfrm>
            <a:off x="458788" y="1566863"/>
            <a:ext cx="8228012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2100" b="1" dirty="0">
                <a:latin typeface="Calibri" panose="020F0502020204030204" charset="0"/>
                <a:ea typeface="DejaVu Sans"/>
              </a:rPr>
              <a:t>Objetivos, Processos, Regras e </a:t>
            </a:r>
            <a:r>
              <a:rPr lang="pt-BR" altLang="pt-BR" sz="2100" b="1" dirty="0">
                <a:solidFill>
                  <a:srgbClr val="FF0000"/>
                </a:solidFill>
                <a:latin typeface="Calibri" panose="020F0502020204030204" charset="0"/>
                <a:ea typeface="DejaVu Sans"/>
              </a:rPr>
              <a:t>Recursos</a:t>
            </a:r>
          </a:p>
        </p:txBody>
      </p:sp>
      <p:graphicFrame>
        <p:nvGraphicFramePr>
          <p:cNvPr id="54276" name="Object 5"/>
          <p:cNvGraphicFramePr>
            <a:graphicFrameLocks noChangeAspect="1"/>
          </p:cNvGraphicFramePr>
          <p:nvPr/>
        </p:nvGraphicFramePr>
        <p:xfrm>
          <a:off x="7667625" y="1598613"/>
          <a:ext cx="1233488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105400" imgH="4000500" progId="Paint.Picture">
                  <p:embed/>
                </p:oleObj>
              </mc:Choice>
              <mc:Fallback>
                <p:oleObj r:id="rId3" imgW="5105400" imgH="4000500" progId="Paint.Picture">
                  <p:embed/>
                  <p:pic>
                    <p:nvPicPr>
                      <p:cNvPr id="0" name="Imagem 30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67625" y="1598613"/>
                        <a:ext cx="1233488" cy="966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7" name="Rectangle 4"/>
          <p:cNvSpPr/>
          <p:nvPr/>
        </p:nvSpPr>
        <p:spPr>
          <a:xfrm>
            <a:off x="574675" y="1989138"/>
            <a:ext cx="8461375" cy="303847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pt-BR" sz="2000" b="1" dirty="0">
                <a:solidFill>
                  <a:srgbClr val="FF0000"/>
                </a:solidFill>
                <a:latin typeface="Helvetica" pitchFamily="34" charset="0"/>
                <a:cs typeface="Helvetica" pitchFamily="34" charset="0"/>
              </a:rPr>
              <a:t>Recursos</a:t>
            </a:r>
            <a:endParaRPr lang="pt-BR" altLang="pt-BR" sz="2000" dirty="0">
              <a:solidFill>
                <a:srgbClr val="FF0000"/>
              </a:solidFill>
              <a:latin typeface="Helvetica" pitchFamily="34" charset="0"/>
              <a:cs typeface="Helvetica" pitchFamily="34" charset="0"/>
            </a:endParaRPr>
          </a:p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endParaRPr lang="pt-BR" altLang="pt-BR" sz="900" dirty="0">
              <a:latin typeface="Helvetica" pitchFamily="34" charset="0"/>
              <a:ea typeface="DejaVu Sans"/>
            </a:endParaRPr>
          </a:p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pt-BR" altLang="pt-BR" sz="2000" dirty="0">
                <a:latin typeface="Helvetica" pitchFamily="34" charset="0"/>
                <a:ea typeface="DejaVu Sans"/>
              </a:rPr>
              <a:t>Recursos são objetos de negócio que atuam ou são utilizados ou manipulados pelos Processos de Negócio, que podem ser classificados como: </a:t>
            </a:r>
            <a:r>
              <a:rPr lang="pt-BR" altLang="pt-BR" sz="2000" i="1" dirty="0">
                <a:solidFill>
                  <a:srgbClr val="FF0000"/>
                </a:solidFill>
                <a:latin typeface="Helvetica" pitchFamily="34" charset="0"/>
                <a:ea typeface="DejaVu Sans"/>
              </a:rPr>
              <a:t>Elementos físicos</a:t>
            </a:r>
            <a:r>
              <a:rPr lang="pt-BR" altLang="pt-BR" sz="2000" dirty="0">
                <a:solidFill>
                  <a:srgbClr val="FF0000"/>
                </a:solidFill>
                <a:latin typeface="Helvetica" pitchFamily="34" charset="0"/>
                <a:ea typeface="DejaVu Sans"/>
              </a:rPr>
              <a:t>, </a:t>
            </a:r>
            <a:r>
              <a:rPr lang="pt-BR" altLang="pt-BR" sz="2000" i="1" dirty="0">
                <a:solidFill>
                  <a:srgbClr val="FF0000"/>
                </a:solidFill>
                <a:latin typeface="Helvetica" pitchFamily="34" charset="0"/>
                <a:ea typeface="DejaVu Sans"/>
              </a:rPr>
              <a:t>abstratos</a:t>
            </a:r>
            <a:r>
              <a:rPr lang="pt-BR" altLang="pt-BR" sz="2000" dirty="0">
                <a:solidFill>
                  <a:srgbClr val="FF0000"/>
                </a:solidFill>
                <a:latin typeface="Helvetica" pitchFamily="34" charset="0"/>
                <a:ea typeface="DejaVu Sans"/>
              </a:rPr>
              <a:t> e </a:t>
            </a:r>
            <a:r>
              <a:rPr lang="pt-BR" altLang="pt-BR" sz="2000" i="1" dirty="0">
                <a:solidFill>
                  <a:srgbClr val="FF0000"/>
                </a:solidFill>
                <a:latin typeface="Helvetica" pitchFamily="34" charset="0"/>
                <a:ea typeface="DejaVu Sans"/>
              </a:rPr>
              <a:t>informacionais</a:t>
            </a:r>
            <a:r>
              <a:rPr lang="pt-BR" altLang="pt-BR" sz="2000" dirty="0">
                <a:latin typeface="Helvetica" pitchFamily="34" charset="0"/>
                <a:ea typeface="DejaVu Sans"/>
              </a:rPr>
              <a:t>. </a:t>
            </a:r>
          </a:p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pt-BR" altLang="pt-BR" sz="2000" dirty="0">
                <a:latin typeface="Helvetica" pitchFamily="34" charset="0"/>
                <a:ea typeface="DejaVu Sans"/>
              </a:rPr>
              <a:t>Esses objetos podem ser de entrada (material ou informação), sendo consumidos ou transformados pelo processo, ou podem constituir a saída de um processo para representar a entrada de outro processo. Portanto, recursos, são conceitos empregados, produzidos, transformados e usados pelos processos do negócio. </a:t>
            </a:r>
          </a:p>
        </p:txBody>
      </p:sp>
      <p:sp>
        <p:nvSpPr>
          <p:cNvPr id="54278" name="CaixaDeTexto 7"/>
          <p:cNvSpPr txBox="1"/>
          <p:nvPr/>
        </p:nvSpPr>
        <p:spPr>
          <a:xfrm>
            <a:off x="1187450" y="5661025"/>
            <a:ext cx="7848600" cy="10588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pt-BR" altLang="pt-BR" sz="1800" dirty="0">
                <a:latin typeface="Helvetica" pitchFamily="34" charset="0"/>
                <a:ea typeface="DejaVu Sans"/>
              </a:rPr>
              <a:t>Exemplos de recursos: </a:t>
            </a:r>
            <a:r>
              <a:rPr lang="pt-BR" altLang="pt-BR" sz="1800" b="1" i="1" dirty="0">
                <a:solidFill>
                  <a:srgbClr val="FF0000"/>
                </a:solidFill>
                <a:latin typeface="Helvetica" pitchFamily="34" charset="0"/>
                <a:ea typeface="DejaVu Sans"/>
              </a:rPr>
              <a:t>Físico</a:t>
            </a:r>
            <a:r>
              <a:rPr lang="pt-BR" altLang="pt-BR" sz="1800" b="1" dirty="0">
                <a:solidFill>
                  <a:srgbClr val="FF0000"/>
                </a:solidFill>
                <a:latin typeface="Helvetica" pitchFamily="34" charset="0"/>
                <a:ea typeface="DejaVu Sans"/>
              </a:rPr>
              <a:t> - </a:t>
            </a:r>
            <a:r>
              <a:rPr lang="pt-BR" altLang="pt-BR" sz="1800" dirty="0">
                <a:solidFill>
                  <a:srgbClr val="FF0000"/>
                </a:solidFill>
                <a:latin typeface="Helvetica" pitchFamily="34" charset="0"/>
                <a:ea typeface="DejaVu Sans"/>
              </a:rPr>
              <a:t>formulário de comandas, papel, caneta, vendedor-recurso de pessoal; </a:t>
            </a:r>
            <a:r>
              <a:rPr lang="pt-BR" altLang="pt-BR" sz="1800" b="1" i="1" dirty="0">
                <a:solidFill>
                  <a:srgbClr val="FF0000"/>
                </a:solidFill>
                <a:latin typeface="Helvetica" pitchFamily="34" charset="0"/>
                <a:ea typeface="DejaVu Sans"/>
              </a:rPr>
              <a:t>Informacional - </a:t>
            </a:r>
            <a:r>
              <a:rPr lang="pt-BR" altLang="pt-BR" sz="1800" dirty="0">
                <a:solidFill>
                  <a:srgbClr val="FF0000"/>
                </a:solidFill>
                <a:latin typeface="Helvetica" pitchFamily="34" charset="0"/>
                <a:ea typeface="DejaVu Sans"/>
              </a:rPr>
              <a:t>lista de livros a serem vendidos, qtde. estoque; </a:t>
            </a:r>
            <a:r>
              <a:rPr lang="pt-BR" altLang="pt-BR" sz="1800" b="1" i="1" dirty="0">
                <a:solidFill>
                  <a:srgbClr val="FF0000"/>
                </a:solidFill>
                <a:latin typeface="Helvetica" pitchFamily="34" charset="0"/>
                <a:ea typeface="DejaVu Sans"/>
              </a:rPr>
              <a:t>Abstrato</a:t>
            </a:r>
            <a:r>
              <a:rPr lang="pt-BR" altLang="pt-BR" sz="1800" dirty="0">
                <a:solidFill>
                  <a:srgbClr val="FF0000"/>
                </a:solidFill>
                <a:latin typeface="Helvetica" pitchFamily="34" charset="0"/>
                <a:ea typeface="DejaVu Sans"/>
              </a:rPr>
              <a:t> - página web, servidor, banco de dados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CaixaDeTexto 1"/>
          <p:cNvSpPr txBox="1"/>
          <p:nvPr/>
        </p:nvSpPr>
        <p:spPr>
          <a:xfrm>
            <a:off x="469900" y="1066800"/>
            <a:ext cx="7427913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3600" b="1" dirty="0">
                <a:solidFill>
                  <a:schemeClr val="accent2"/>
                </a:solidFill>
                <a:latin typeface="Calibri" panose="020F0502020204030204" charset="0"/>
                <a:ea typeface="DejaVu Sans"/>
              </a:rPr>
              <a:t>Modelagem de processos de negócios</a:t>
            </a:r>
          </a:p>
        </p:txBody>
      </p:sp>
      <p:sp>
        <p:nvSpPr>
          <p:cNvPr id="56323" name="CaixaDeTexto 4"/>
          <p:cNvSpPr txBox="1"/>
          <p:nvPr/>
        </p:nvSpPr>
        <p:spPr>
          <a:xfrm>
            <a:off x="458788" y="1566863"/>
            <a:ext cx="8228012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2100" b="1" dirty="0">
                <a:latin typeface="Calibri" panose="020F0502020204030204" charset="0"/>
                <a:ea typeface="DejaVu Sans"/>
              </a:rPr>
              <a:t>Notações ou Padrões para Modelagem</a:t>
            </a:r>
          </a:p>
        </p:txBody>
      </p:sp>
      <p:sp>
        <p:nvSpPr>
          <p:cNvPr id="56324" name="Rectangle 4"/>
          <p:cNvSpPr/>
          <p:nvPr/>
        </p:nvSpPr>
        <p:spPr>
          <a:xfrm>
            <a:off x="574675" y="1989138"/>
            <a:ext cx="8461375" cy="303847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pt-BR" sz="2000" b="1" dirty="0">
                <a:solidFill>
                  <a:srgbClr val="FF0000"/>
                </a:solidFill>
                <a:latin typeface="Helvetica" pitchFamily="34" charset="0"/>
                <a:cs typeface="Helvetica" pitchFamily="34" charset="0"/>
              </a:rPr>
              <a:t>Eriksson-Penker / Ferramenta Enterprise Architect</a:t>
            </a:r>
            <a:endParaRPr lang="pt-BR" altLang="pt-BR" sz="2000" dirty="0">
              <a:solidFill>
                <a:srgbClr val="FF0000"/>
              </a:solidFill>
              <a:latin typeface="Helvetica" pitchFamily="34" charset="0"/>
              <a:cs typeface="Helvetica" pitchFamily="34" charset="0"/>
            </a:endParaRPr>
          </a:p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endParaRPr lang="pt-BR" altLang="pt-BR" sz="900" dirty="0">
              <a:latin typeface="Helvetica" pitchFamily="34" charset="0"/>
              <a:ea typeface="DejaVu Sans"/>
            </a:endParaRPr>
          </a:p>
        </p:txBody>
      </p:sp>
      <p:pic>
        <p:nvPicPr>
          <p:cNvPr id="56325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8475" y="2636838"/>
            <a:ext cx="6073775" cy="34369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6326" name="CaixaDeTexto 1"/>
          <p:cNvSpPr txBox="1"/>
          <p:nvPr/>
        </p:nvSpPr>
        <p:spPr>
          <a:xfrm>
            <a:off x="2930525" y="6075363"/>
            <a:ext cx="3671888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pt-BR" altLang="pt-BR" sz="1800" dirty="0">
                <a:solidFill>
                  <a:srgbClr val="FF0000"/>
                </a:solidFill>
                <a:ea typeface="DejaVu Sans"/>
              </a:rPr>
              <a:t>Exemplo: Venda de Livros Online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CaixaDeTexto 1"/>
          <p:cNvSpPr txBox="1"/>
          <p:nvPr/>
        </p:nvSpPr>
        <p:spPr>
          <a:xfrm>
            <a:off x="469900" y="1066800"/>
            <a:ext cx="7427913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3600" b="1" dirty="0">
                <a:solidFill>
                  <a:schemeClr val="accent2"/>
                </a:solidFill>
                <a:latin typeface="Calibri" panose="020F0502020204030204" charset="0"/>
                <a:ea typeface="DejaVu Sans"/>
              </a:rPr>
              <a:t>Modelagem de processos de negócios</a:t>
            </a:r>
          </a:p>
        </p:txBody>
      </p:sp>
      <p:sp>
        <p:nvSpPr>
          <p:cNvPr id="58371" name="CaixaDeTexto 4"/>
          <p:cNvSpPr txBox="1"/>
          <p:nvPr/>
        </p:nvSpPr>
        <p:spPr>
          <a:xfrm>
            <a:off x="458788" y="1566863"/>
            <a:ext cx="8228012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2100" b="1" dirty="0">
                <a:latin typeface="Calibri" panose="020F0502020204030204" charset="0"/>
                <a:ea typeface="DejaVu Sans"/>
              </a:rPr>
              <a:t>Notações ou Padrões para Modelagem</a:t>
            </a:r>
          </a:p>
        </p:txBody>
      </p:sp>
      <p:sp>
        <p:nvSpPr>
          <p:cNvPr id="58372" name="Rectangle 4"/>
          <p:cNvSpPr/>
          <p:nvPr/>
        </p:nvSpPr>
        <p:spPr>
          <a:xfrm>
            <a:off x="574675" y="1989138"/>
            <a:ext cx="8461375" cy="303847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pt-BR" sz="2000" b="1" dirty="0">
                <a:solidFill>
                  <a:srgbClr val="FF0000"/>
                </a:solidFill>
                <a:latin typeface="Helvetica" pitchFamily="34" charset="0"/>
                <a:cs typeface="Helvetica" pitchFamily="34" charset="0"/>
              </a:rPr>
              <a:t>Diagrama de Atividades UML / Ferramenta </a:t>
            </a:r>
            <a:r>
              <a:rPr lang="pt-BR" altLang="pt-BR" sz="2000" b="1" dirty="0">
                <a:solidFill>
                  <a:srgbClr val="FF0000"/>
                </a:solidFill>
                <a:latin typeface="Helvetica" pitchFamily="34" charset="0"/>
                <a:cs typeface="Helvetica" pitchFamily="34" charset="0"/>
              </a:rPr>
              <a:t>Astah</a:t>
            </a:r>
            <a:endParaRPr lang="pt-BR" altLang="pt-BR" sz="2000" dirty="0">
              <a:solidFill>
                <a:srgbClr val="FF0000"/>
              </a:solidFill>
              <a:latin typeface="Helvetica" pitchFamily="34" charset="0"/>
              <a:cs typeface="Helvetica" pitchFamily="34" charset="0"/>
            </a:endParaRPr>
          </a:p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endParaRPr lang="pt-BR" altLang="pt-BR" sz="900" dirty="0">
              <a:latin typeface="Helvetica" pitchFamily="34" charset="0"/>
              <a:ea typeface="DejaVu Sans"/>
            </a:endParaRPr>
          </a:p>
        </p:txBody>
      </p:sp>
      <p:sp>
        <p:nvSpPr>
          <p:cNvPr id="58373" name="CaixaDeTexto 1"/>
          <p:cNvSpPr txBox="1"/>
          <p:nvPr/>
        </p:nvSpPr>
        <p:spPr>
          <a:xfrm>
            <a:off x="2930525" y="6075363"/>
            <a:ext cx="3671888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pt-BR" altLang="pt-BR" sz="1800" dirty="0">
                <a:solidFill>
                  <a:srgbClr val="FF0000"/>
                </a:solidFill>
                <a:ea typeface="DejaVu Sans"/>
              </a:rPr>
              <a:t>Exemplo: Venda de Livros Online</a:t>
            </a:r>
          </a:p>
        </p:txBody>
      </p:sp>
      <p:pic>
        <p:nvPicPr>
          <p:cNvPr id="58374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563" y="2420938"/>
            <a:ext cx="3579812" cy="3654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CaixaDeTexto 1"/>
          <p:cNvSpPr txBox="1"/>
          <p:nvPr/>
        </p:nvSpPr>
        <p:spPr>
          <a:xfrm>
            <a:off x="469900" y="1066800"/>
            <a:ext cx="7427913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3600" b="1" dirty="0">
                <a:solidFill>
                  <a:schemeClr val="accent2"/>
                </a:solidFill>
                <a:latin typeface="Calibri" panose="020F0502020204030204" charset="0"/>
                <a:ea typeface="DejaVu Sans"/>
              </a:rPr>
              <a:t>Modelagem de processos de negócios</a:t>
            </a:r>
          </a:p>
        </p:txBody>
      </p:sp>
      <p:sp>
        <p:nvSpPr>
          <p:cNvPr id="60419" name="CaixaDeTexto 4"/>
          <p:cNvSpPr txBox="1"/>
          <p:nvPr/>
        </p:nvSpPr>
        <p:spPr>
          <a:xfrm>
            <a:off x="458788" y="1566863"/>
            <a:ext cx="8228012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2100" b="1" dirty="0">
                <a:latin typeface="Calibri" panose="020F0502020204030204" charset="0"/>
                <a:ea typeface="DejaVu Sans"/>
              </a:rPr>
              <a:t>Notações ou Padrões para Modelagem</a:t>
            </a:r>
          </a:p>
        </p:txBody>
      </p:sp>
      <p:sp>
        <p:nvSpPr>
          <p:cNvPr id="60420" name="Rectangle 4"/>
          <p:cNvSpPr/>
          <p:nvPr/>
        </p:nvSpPr>
        <p:spPr>
          <a:xfrm>
            <a:off x="574675" y="1989138"/>
            <a:ext cx="8461375" cy="303847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pt-BR" altLang="pt-BR" sz="2000" b="1" dirty="0">
                <a:solidFill>
                  <a:srgbClr val="FF0000"/>
                </a:solidFill>
                <a:latin typeface="Helvetica" pitchFamily="34" charset="0"/>
                <a:cs typeface="Helvetica" pitchFamily="34" charset="0"/>
              </a:rPr>
              <a:t>Value Proposition Canvas (VPC) / Ferramenta Miro ou Figma</a:t>
            </a:r>
            <a:endParaRPr lang="pt-BR" altLang="pt-BR" sz="2000" dirty="0">
              <a:solidFill>
                <a:srgbClr val="FF0000"/>
              </a:solidFill>
              <a:latin typeface="Helvetica" pitchFamily="34" charset="0"/>
              <a:cs typeface="Helvetica" pitchFamily="34" charset="0"/>
            </a:endParaRPr>
          </a:p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endParaRPr lang="pt-BR" altLang="pt-BR" sz="900" dirty="0">
              <a:latin typeface="Helvetica" pitchFamily="34" charset="0"/>
              <a:ea typeface="DejaVu Sans"/>
            </a:endParaRPr>
          </a:p>
        </p:txBody>
      </p:sp>
      <p:sp>
        <p:nvSpPr>
          <p:cNvPr id="60421" name="CaixaDeTexto 1"/>
          <p:cNvSpPr txBox="1"/>
          <p:nvPr/>
        </p:nvSpPr>
        <p:spPr>
          <a:xfrm>
            <a:off x="2930525" y="6075363"/>
            <a:ext cx="3595688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pt-BR" altLang="pt-BR" sz="1800" dirty="0">
                <a:solidFill>
                  <a:srgbClr val="FF0000"/>
                </a:solidFill>
                <a:ea typeface="DejaVu Sans"/>
              </a:rPr>
              <a:t>Exemplo: Venda de Livros Online</a:t>
            </a:r>
          </a:p>
        </p:txBody>
      </p:sp>
      <p:sp>
        <p:nvSpPr>
          <p:cNvPr id="7" name="Explosão: 8 Pontos 6"/>
          <p:cNvSpPr/>
          <p:nvPr/>
        </p:nvSpPr>
        <p:spPr>
          <a:xfrm rot="1998226">
            <a:off x="7761288" y="1509713"/>
            <a:ext cx="1250950" cy="855663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Atenção</a:t>
            </a:r>
          </a:p>
        </p:txBody>
      </p:sp>
      <p:pic>
        <p:nvPicPr>
          <p:cNvPr id="60423" name="Imagem 2" descr="Gráfico&#10;&#10;Descrição gerada automaticamen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988" y="2565400"/>
            <a:ext cx="7045325" cy="33845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CaixaDeTexto 1"/>
          <p:cNvSpPr txBox="1"/>
          <p:nvPr/>
        </p:nvSpPr>
        <p:spPr>
          <a:xfrm>
            <a:off x="469900" y="1066800"/>
            <a:ext cx="7427913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3600" b="1" dirty="0">
                <a:solidFill>
                  <a:schemeClr val="accent2"/>
                </a:solidFill>
                <a:latin typeface="Calibri" panose="020F0502020204030204" charset="0"/>
                <a:ea typeface="DejaVu Sans"/>
              </a:rPr>
              <a:t>Modelagem de processos de negócios</a:t>
            </a:r>
          </a:p>
        </p:txBody>
      </p:sp>
      <p:sp>
        <p:nvSpPr>
          <p:cNvPr id="62467" name="CaixaDeTexto 4"/>
          <p:cNvSpPr txBox="1"/>
          <p:nvPr/>
        </p:nvSpPr>
        <p:spPr>
          <a:xfrm>
            <a:off x="458788" y="1566863"/>
            <a:ext cx="8228012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2100" b="1" dirty="0">
                <a:latin typeface="Calibri" panose="020F0502020204030204" charset="0"/>
                <a:ea typeface="DejaVu Sans"/>
              </a:rPr>
              <a:t>Notações ou Padrões para Modelagem</a:t>
            </a:r>
          </a:p>
        </p:txBody>
      </p:sp>
      <p:sp>
        <p:nvSpPr>
          <p:cNvPr id="62468" name="Rectangle 4"/>
          <p:cNvSpPr/>
          <p:nvPr/>
        </p:nvSpPr>
        <p:spPr>
          <a:xfrm>
            <a:off x="574675" y="1989138"/>
            <a:ext cx="8461375" cy="303847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pt-BR" sz="2000" b="1" dirty="0">
                <a:solidFill>
                  <a:srgbClr val="FF0000"/>
                </a:solidFill>
                <a:latin typeface="Helvetica" pitchFamily="34" charset="0"/>
                <a:cs typeface="Helvetica" pitchFamily="34" charset="0"/>
              </a:rPr>
              <a:t>BPMN / Ferramenta </a:t>
            </a:r>
            <a:r>
              <a:rPr lang="pt-BR" altLang="pt-BR" sz="2000" b="1" dirty="0">
                <a:solidFill>
                  <a:srgbClr val="FF0000"/>
                </a:solidFill>
                <a:latin typeface="Helvetica" pitchFamily="34" charset="0"/>
                <a:cs typeface="Helvetica" pitchFamily="34" charset="0"/>
              </a:rPr>
              <a:t>Bizagi</a:t>
            </a:r>
            <a:endParaRPr lang="pt-BR" altLang="pt-BR" sz="2000" dirty="0">
              <a:solidFill>
                <a:srgbClr val="FF0000"/>
              </a:solidFill>
              <a:latin typeface="Helvetica" pitchFamily="34" charset="0"/>
              <a:cs typeface="Helvetica" pitchFamily="34" charset="0"/>
            </a:endParaRPr>
          </a:p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endParaRPr lang="pt-BR" altLang="pt-BR" sz="900" dirty="0">
              <a:latin typeface="Helvetica" pitchFamily="34" charset="0"/>
              <a:ea typeface="DejaVu Sans"/>
            </a:endParaRPr>
          </a:p>
        </p:txBody>
      </p:sp>
      <p:sp>
        <p:nvSpPr>
          <p:cNvPr id="62469" name="CaixaDeTexto 1"/>
          <p:cNvSpPr txBox="1"/>
          <p:nvPr/>
        </p:nvSpPr>
        <p:spPr>
          <a:xfrm>
            <a:off x="2930525" y="6075363"/>
            <a:ext cx="3671888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pt-BR" altLang="pt-BR" sz="1800" dirty="0">
                <a:solidFill>
                  <a:srgbClr val="FF0000"/>
                </a:solidFill>
                <a:ea typeface="DejaVu Sans"/>
              </a:rPr>
              <a:t>Exemplo: Venda de Livros Online</a:t>
            </a:r>
          </a:p>
        </p:txBody>
      </p:sp>
      <p:pic>
        <p:nvPicPr>
          <p:cNvPr id="62470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2565400"/>
            <a:ext cx="6715125" cy="3429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Explosão: 8 Pontos 8"/>
          <p:cNvSpPr/>
          <p:nvPr/>
        </p:nvSpPr>
        <p:spPr>
          <a:xfrm rot="1998226">
            <a:off x="7761288" y="1509713"/>
            <a:ext cx="1250950" cy="855663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Atenção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00C1ABC62A77F408CCCD3E2FA81569F" ma:contentTypeVersion="10" ma:contentTypeDescription="Crie um novo documento." ma:contentTypeScope="" ma:versionID="0da87684ca19dc3ab62f81621c798eae">
  <xsd:schema xmlns:xsd="http://www.w3.org/2001/XMLSchema" xmlns:xs="http://www.w3.org/2001/XMLSchema" xmlns:p="http://schemas.microsoft.com/office/2006/metadata/properties" xmlns:ns2="cab57bc6-0aad-4c80-a30f-bbd4ef7a8f38" xmlns:ns3="4c24305b-3a8f-420f-955e-2e1a5a939de2" targetNamespace="http://schemas.microsoft.com/office/2006/metadata/properties" ma:root="true" ma:fieldsID="430b8e084987cf5266a655a3acc71cd2" ns2:_="" ns3:_="">
    <xsd:import namespace="cab57bc6-0aad-4c80-a30f-bbd4ef7a8f38"/>
    <xsd:import namespace="4c24305b-3a8f-420f-955e-2e1a5a939d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b57bc6-0aad-4c80-a30f-bbd4ef7a8f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0ef6089c-5148-4909-88ac-65974e5b7eb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24305b-3a8f-420f-955e-2e1a5a939de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f335cb0-1453-4510-96bd-923a78948247}" ma:internalName="TaxCatchAll" ma:showField="CatchAllData" ma:web="4c24305b-3a8f-420f-955e-2e1a5a939de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c24305b-3a8f-420f-955e-2e1a5a939de2" xsi:nil="true"/>
    <lcf76f155ced4ddcb4097134ff3c332f xmlns="cab57bc6-0aad-4c80-a30f-bbd4ef7a8f3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6B810F4-D00C-4AB8-BD8D-115CD1C04A1B}"/>
</file>

<file path=customXml/itemProps2.xml><?xml version="1.0" encoding="utf-8"?>
<ds:datastoreItem xmlns:ds="http://schemas.openxmlformats.org/officeDocument/2006/customXml" ds:itemID="{C6849335-9E4C-4E01-88EE-9C9F2E8BB6DD}">
  <ds:schemaRefs>
    <ds:schemaRef ds:uri="http://schemas.microsoft.com/office/2006/metadata/properties"/>
    <ds:schemaRef ds:uri="http://schemas.microsoft.com/office/infopath/2007/PartnerControls"/>
    <ds:schemaRef ds:uri="4c24305b-3a8f-420f-955e-2e1a5a939de2"/>
    <ds:schemaRef ds:uri="cab57bc6-0aad-4c80-a30f-bbd4ef7a8f38"/>
  </ds:schemaRefs>
</ds:datastoreItem>
</file>

<file path=customXml/itemProps3.xml><?xml version="1.0" encoding="utf-8"?>
<ds:datastoreItem xmlns:ds="http://schemas.openxmlformats.org/officeDocument/2006/customXml" ds:itemID="{6FEB15CD-2C49-4353-A597-A4F758A48DA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5997</Words>
  <Application>Microsoft Office PowerPoint</Application>
  <PresentationFormat>Apresentação na tela (4:3)</PresentationFormat>
  <Paragraphs>185</Paragraphs>
  <Slides>18</Slides>
  <Notes>16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18</vt:i4>
      </vt:variant>
    </vt:vector>
  </HeadingPairs>
  <TitlesOfParts>
    <vt:vector size="20" baseType="lpstr"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administrator</dc:creator>
  <cp:lastModifiedBy>José Walmir G. Duque</cp:lastModifiedBy>
  <cp:revision>165</cp:revision>
  <dcterms:created xsi:type="dcterms:W3CDTF">2024-11-04T13:18:24Z</dcterms:created>
  <dcterms:modified xsi:type="dcterms:W3CDTF">2025-11-17T15:01:51Z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CE531E00CC324549B8306F67C4D373C2_12</vt:lpwstr>
  </property>
  <property fmtid="{D5CDD505-2E9C-101B-9397-08002B2CF9AE}" pid="3" name="KSOProductBuildVer">
    <vt:lpwstr>1046-12.2.0.18607</vt:lpwstr>
  </property>
  <property fmtid="{D5CDD505-2E9C-101B-9397-08002B2CF9AE}" pid="4" name="ContentTypeId">
    <vt:lpwstr>0x010100500C1ABC62A77F408CCCD3E2FA81569F</vt:lpwstr>
  </property>
  <property fmtid="{D5CDD505-2E9C-101B-9397-08002B2CF9AE}" pid="5" name="MediaServiceImageTags">
    <vt:lpwstr/>
  </property>
</Properties>
</file>