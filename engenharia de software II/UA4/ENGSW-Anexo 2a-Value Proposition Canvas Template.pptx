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2" r:id="rId5"/>
    <p:sldId id="257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C98126-17B6-39A7-7B7B-9C36DF610F2C}" v="1" dt="2025-11-17T14:48:27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DA SILVA LOPES BEZERRA" userId="S::leonardo.bezerra8@fatec.sp.gov.br::74cbeec8-079a-497a-b230-e2db7cd47453" providerId="AD" clId="Web-{ADC98126-17B6-39A7-7B7B-9C36DF610F2C}"/>
    <pc:docChg chg="modSld">
      <pc:chgData name="LEONARDO DA SILVA LOPES BEZERRA" userId="S::leonardo.bezerra8@fatec.sp.gov.br::74cbeec8-079a-497a-b230-e2db7cd47453" providerId="AD" clId="Web-{ADC98126-17B6-39A7-7B7B-9C36DF610F2C}" dt="2025-11-17T14:48:27.897" v="0" actId="1076"/>
      <pc:docMkLst>
        <pc:docMk/>
      </pc:docMkLst>
      <pc:sldChg chg="modSp">
        <pc:chgData name="LEONARDO DA SILVA LOPES BEZERRA" userId="S::leonardo.bezerra8@fatec.sp.gov.br::74cbeec8-079a-497a-b230-e2db7cd47453" providerId="AD" clId="Web-{ADC98126-17B6-39A7-7B7B-9C36DF610F2C}" dt="2025-11-17T14:48:27.897" v="0" actId="1076"/>
        <pc:sldMkLst>
          <pc:docMk/>
          <pc:sldMk cId="219816860" sldId="262"/>
        </pc:sldMkLst>
        <pc:spChg chg="mod">
          <ac:chgData name="LEONARDO DA SILVA LOPES BEZERRA" userId="S::leonardo.bezerra8@fatec.sp.gov.br::74cbeec8-079a-497a-b230-e2db7cd47453" providerId="AD" clId="Web-{ADC98126-17B6-39A7-7B7B-9C36DF610F2C}" dt="2025-11-17T14:48:27.897" v="0" actId="1076"/>
          <ac:spMkLst>
            <pc:docMk/>
            <pc:sldMk cId="219816860" sldId="262"/>
            <ac:spMk id="4" creationId="{4CCDEACD-E521-4E54-B5F0-C111FE25D67D}"/>
          </ac:spMkLst>
        </pc:spChg>
      </pc:sldChg>
    </pc:docChg>
  </pc:docChgLst>
  <pc:docChgLst>
    <pc:chgData name="ENRICO DE CHIARA GERMANO" userId="S::enrico.germano@fatec.sp.gov.br::50ec302e-4ba1-4210-ba5c-494f7068a5d3" providerId="AD" clId="Web-{85238714-9C5C-7AD3-79A6-8C38E150DBB8}"/>
    <pc:docChg chg="modSld">
      <pc:chgData name="ENRICO DE CHIARA GERMANO" userId="S::enrico.germano@fatec.sp.gov.br::50ec302e-4ba1-4210-ba5c-494f7068a5d3" providerId="AD" clId="Web-{85238714-9C5C-7AD3-79A6-8C38E150DBB8}" dt="2025-10-24T12:43:55.942" v="1" actId="1076"/>
      <pc:docMkLst>
        <pc:docMk/>
      </pc:docMkLst>
      <pc:sldChg chg="modSp">
        <pc:chgData name="ENRICO DE CHIARA GERMANO" userId="S::enrico.germano@fatec.sp.gov.br::50ec302e-4ba1-4210-ba5c-494f7068a5d3" providerId="AD" clId="Web-{85238714-9C5C-7AD3-79A6-8C38E150DBB8}" dt="2025-10-24T12:43:55.942" v="1" actId="1076"/>
        <pc:sldMkLst>
          <pc:docMk/>
          <pc:sldMk cId="219816860" sldId="262"/>
        </pc:sldMkLst>
        <pc:spChg chg="mod">
          <ac:chgData name="ENRICO DE CHIARA GERMANO" userId="S::enrico.germano@fatec.sp.gov.br::50ec302e-4ba1-4210-ba5c-494f7068a5d3" providerId="AD" clId="Web-{85238714-9C5C-7AD3-79A6-8C38E150DBB8}" dt="2025-10-24T12:43:55.942" v="1" actId="1076"/>
          <ac:spMkLst>
            <pc:docMk/>
            <pc:sldMk cId="219816860" sldId="262"/>
            <ac:spMk id="4" creationId="{4CCDEACD-E521-4E54-B5F0-C111FE25D67D}"/>
          </ac:spMkLst>
        </pc:spChg>
        <pc:spChg chg="mod">
          <ac:chgData name="ENRICO DE CHIARA GERMANO" userId="S::enrico.germano@fatec.sp.gov.br::50ec302e-4ba1-4210-ba5c-494f7068a5d3" providerId="AD" clId="Web-{85238714-9C5C-7AD3-79A6-8C38E150DBB8}" dt="2025-10-24T12:43:54.442" v="0" actId="14100"/>
          <ac:spMkLst>
            <pc:docMk/>
            <pc:sldMk cId="219816860" sldId="262"/>
            <ac:spMk id="17" creationId="{BF37F53A-B119-43BB-884D-D7518F59641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60584-3417-4CEB-B1E6-617D375C2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165879-D221-44B0-8976-7144FABAC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2C0AF5-6FFD-462D-80D5-B0AACFC8D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D787-33F0-46EF-B968-D2285C3D64B2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395D7-DD5D-434F-8453-29F65B991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3B5DB9-2649-492D-A2BA-D685284A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2D9F-0281-460A-A2E8-762885919B8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054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A6C10-47B8-4A16-AACE-2C11C119E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D888CC-31E2-4AEB-9F7F-17FE852C6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CCBA16-A08E-4519-ABD2-8A8680571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D787-33F0-46EF-B968-D2285C3D64B2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A14234-FA4E-479B-AB45-45090A950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33B8E8-CA49-4DF1-A9F5-40ACFC6BC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2D9F-0281-460A-A2E8-762885919B8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90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75D10-0C68-4D32-B762-8B3E909FB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A872C4-CC36-43C6-9553-449646B77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5CECA3-1378-4C90-BD98-D89B9E7D3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D787-33F0-46EF-B968-D2285C3D64B2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96C363-AB88-4C17-998B-12740E9C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720AAE-78BC-4C1B-9E25-D48F4E63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2D9F-0281-460A-A2E8-762885919B8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888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90913-21AB-437D-8FE5-ACDE2306C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8D16D4-701E-44E0-81A4-7423282B4A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7D889B-329C-4AB8-8640-E24F0B4E3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606260-9781-4D7E-B1FD-EA3989503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D787-33F0-46EF-B968-D2285C3D64B2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09F6FF-1D4F-4542-AF63-CF908921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2A1C7E-4A82-4551-A84A-5834374A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2D9F-0281-460A-A2E8-762885919B8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1110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B47D3-8BAE-412A-97C0-C8572496D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329DD4-F6BD-4143-A61D-68DAD9367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5F1D16-58E7-4491-9AEE-89FC34D07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4293F6D-A168-481F-925C-F98886FE41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DC46E5-1585-458E-9248-E8869AA06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9F0EDCF-01E4-4158-9BA7-E460797EB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D787-33F0-46EF-B968-D2285C3D64B2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6E6A70D-DD76-49B3-A721-63D7157A3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3EE0F52-4258-4296-9DBA-343DC45A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2D9F-0281-460A-A2E8-762885919B8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630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039A4-AD5D-4F77-BBD7-A41DD66E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6F3B21-D794-46DE-83F6-949B2373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D787-33F0-46EF-B968-D2285C3D64B2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CAAE47-F780-45B4-B80D-7ED208B9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0CB05AD-F5C1-48D3-978D-263ADEE4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2D9F-0281-460A-A2E8-762885919B8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44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1295E8-6DAE-474B-B66B-B6C4B7715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D787-33F0-46EF-B968-D2285C3D64B2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18A7A2D-81BE-4814-998D-5B2B89D89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E51838-72BC-401E-BCD2-147DAA1F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2D9F-0281-460A-A2E8-762885919B8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76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8740C-B202-4951-BA3A-F6B9C531E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392159-1829-431B-A6F9-BB8A63DBE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59478-FA56-4EDA-A42B-3A09EAE6D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68F261-E35E-44FB-AB88-B8EC9334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D787-33F0-46EF-B968-D2285C3D64B2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3F1227-10B8-46AC-B9CB-57F7021A6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F99AFD-747D-4348-AD48-CA05B043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2D9F-0281-460A-A2E8-762885919B8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18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E0B3E-9E28-4B22-A86D-F8B94C722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DC869BC-9382-4C3B-8ED6-26622431C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FE19D9-C692-4F04-9510-2DFBBE7B4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10E60F-C970-49D5-9481-2F10B4CAC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D787-33F0-46EF-B968-D2285C3D64B2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24D7BF-9797-4F72-871B-B51688F3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D670EF-F087-4EDB-96AB-AF7ACAD1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2D9F-0281-460A-A2E8-762885919B8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144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61A7D-C523-4824-9189-A5D725E1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085FA5E-9AD3-4D69-B56D-9FE16E299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325AF-185E-4507-B0DA-0B532174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D787-33F0-46EF-B968-D2285C3D64B2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753738-F30B-404B-9119-715E4D69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078788-BDC1-43CE-9554-F0E85CF00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2D9F-0281-460A-A2E8-762885919B8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13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74E556-2480-4E1F-9B5B-7ED90B216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6C1426-0B56-462E-934E-514532D10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13D17F-BEA9-47F7-9FE8-C275A9915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D787-33F0-46EF-B968-D2285C3D64B2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640CAB-0C28-4B7F-A571-6353F68B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ACD55A-C9E6-48CA-B89F-FB32EFB7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2D9F-0281-460A-A2E8-762885919B8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760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7CBC612-640C-4E41-9E51-A3386209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E6EEB6-DF65-45FB-810D-C7195F7E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7BDC4B-7067-4CF1-BC1E-1B0C5F51C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3D787-33F0-46EF-B968-D2285C3D64B2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52B59C-0E6D-41DC-A5D4-10E75B2CF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7830DD-616D-4A74-90BC-6C4F93A4B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32D9F-0281-460A-A2E8-762885919B8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25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4CCDEACD-E521-4E54-B5F0-C111FE25D67D}"/>
              </a:ext>
            </a:extLst>
          </p:cNvPr>
          <p:cNvSpPr/>
          <p:nvPr/>
        </p:nvSpPr>
        <p:spPr>
          <a:xfrm>
            <a:off x="6846249" y="1481442"/>
            <a:ext cx="4680000" cy="46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0DFF341-2DD1-4A9E-9A75-8F5318AC6D24}"/>
              </a:ext>
            </a:extLst>
          </p:cNvPr>
          <p:cNvSpPr/>
          <p:nvPr/>
        </p:nvSpPr>
        <p:spPr>
          <a:xfrm>
            <a:off x="624637" y="1520320"/>
            <a:ext cx="4680000" cy="468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38CA864F-EBE1-4A98-8627-20F3029A6296}"/>
              </a:ext>
            </a:extLst>
          </p:cNvPr>
          <p:cNvCxnSpPr/>
          <p:nvPr/>
        </p:nvCxnSpPr>
        <p:spPr>
          <a:xfrm>
            <a:off x="2954740" y="3860320"/>
            <a:ext cx="314126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E7675D9-7849-4494-A310-F06FF2833BA5}"/>
              </a:ext>
            </a:extLst>
          </p:cNvPr>
          <p:cNvCxnSpPr/>
          <p:nvPr/>
        </p:nvCxnSpPr>
        <p:spPr>
          <a:xfrm flipH="1">
            <a:off x="6107961" y="3860320"/>
            <a:ext cx="3111102" cy="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3558067-770A-4CEF-9298-FAF916EB9C41}"/>
              </a:ext>
            </a:extLst>
          </p:cNvPr>
          <p:cNvCxnSpPr/>
          <p:nvPr/>
        </p:nvCxnSpPr>
        <p:spPr>
          <a:xfrm flipH="1" flipV="1">
            <a:off x="624639" y="1520320"/>
            <a:ext cx="2330101" cy="2340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67DB9E7-388C-48F3-AD99-920E4F00C847}"/>
              </a:ext>
            </a:extLst>
          </p:cNvPr>
          <p:cNvCxnSpPr/>
          <p:nvPr/>
        </p:nvCxnSpPr>
        <p:spPr>
          <a:xfrm flipH="1">
            <a:off x="624637" y="3860320"/>
            <a:ext cx="2330103" cy="2340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13652B0-D0ED-46EB-B904-4CBBF21FC1CB}"/>
              </a:ext>
            </a:extLst>
          </p:cNvPr>
          <p:cNvCxnSpPr/>
          <p:nvPr/>
        </p:nvCxnSpPr>
        <p:spPr>
          <a:xfrm flipV="1">
            <a:off x="9219063" y="1755153"/>
            <a:ext cx="1023582" cy="21051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635F4F7-F670-4DAA-A2C8-B2AE39227F5C}"/>
              </a:ext>
            </a:extLst>
          </p:cNvPr>
          <p:cNvCxnSpPr/>
          <p:nvPr/>
        </p:nvCxnSpPr>
        <p:spPr>
          <a:xfrm>
            <a:off x="9219063" y="3860320"/>
            <a:ext cx="1023582" cy="21051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4EBA6DBD-8619-4580-BF6F-0FF66720E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740" y="3411782"/>
            <a:ext cx="900000" cy="9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4A98904-A0EF-4587-AC83-A200491DF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570" y="3411782"/>
            <a:ext cx="942985" cy="900000"/>
          </a:xfrm>
          <a:prstGeom prst="rect">
            <a:avLst/>
          </a:prstGeom>
        </p:spPr>
      </p:pic>
      <p:sp>
        <p:nvSpPr>
          <p:cNvPr id="14" name="Retângulo: Canto Dobrado 13">
            <a:extLst>
              <a:ext uri="{FF2B5EF4-FFF2-40B4-BE49-F238E27FC236}">
                <a16:creationId xmlns:a16="http://schemas.microsoft.com/office/drawing/2014/main" id="{A2732CC8-B27B-4B1B-A4A4-4E435BB9E3A7}"/>
              </a:ext>
            </a:extLst>
          </p:cNvPr>
          <p:cNvSpPr/>
          <p:nvPr/>
        </p:nvSpPr>
        <p:spPr>
          <a:xfrm>
            <a:off x="10019999" y="3405275"/>
            <a:ext cx="1121474" cy="1634280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Uma lista do que os clientes estão tentando </a:t>
            </a:r>
            <a:r>
              <a:rPr lang="pt-BR" sz="1000" b="1">
                <a:solidFill>
                  <a:srgbClr val="FF0000"/>
                </a:solidFill>
              </a:rPr>
              <a:t>fazer</a:t>
            </a:r>
          </a:p>
          <a:p>
            <a:pPr algn="ctr"/>
            <a:r>
              <a:rPr lang="pt-BR" sz="1000"/>
              <a:t>(o que o cliente precisa, inclusive sob o ponto de vista de motivações emocionais)</a:t>
            </a:r>
          </a:p>
        </p:txBody>
      </p:sp>
      <p:sp>
        <p:nvSpPr>
          <p:cNvPr id="15" name="Retângulo: Canto Dobrado 14">
            <a:extLst>
              <a:ext uri="{FF2B5EF4-FFF2-40B4-BE49-F238E27FC236}">
                <a16:creationId xmlns:a16="http://schemas.microsoft.com/office/drawing/2014/main" id="{0616CB71-B9CD-4A41-86CF-1CDD047A13C7}"/>
              </a:ext>
            </a:extLst>
          </p:cNvPr>
          <p:cNvSpPr/>
          <p:nvPr/>
        </p:nvSpPr>
        <p:spPr>
          <a:xfrm>
            <a:off x="815216" y="3648806"/>
            <a:ext cx="993032" cy="1417622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Listagem com todos os </a:t>
            </a:r>
            <a:r>
              <a:rPr lang="pt-BR" sz="1000" b="1">
                <a:solidFill>
                  <a:srgbClr val="FF0000"/>
                </a:solidFill>
              </a:rPr>
              <a:t>produtos</a:t>
            </a:r>
            <a:r>
              <a:rPr lang="pt-BR" sz="1000"/>
              <a:t> e/ou </a:t>
            </a:r>
            <a:r>
              <a:rPr lang="pt-BR" sz="1000" b="1">
                <a:solidFill>
                  <a:srgbClr val="FF0000"/>
                </a:solidFill>
              </a:rPr>
              <a:t>serviços</a:t>
            </a:r>
            <a:r>
              <a:rPr lang="pt-BR" sz="1000"/>
              <a:t> em torno dos quais uma proposta de valor é construída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E2376BE-6C39-40D8-8CAD-495E9557287F}"/>
              </a:ext>
            </a:extLst>
          </p:cNvPr>
          <p:cNvSpPr txBox="1"/>
          <p:nvPr/>
        </p:nvSpPr>
        <p:spPr>
          <a:xfrm>
            <a:off x="771817" y="3314999"/>
            <a:ext cx="13607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>
                <a:solidFill>
                  <a:srgbClr val="0070C0"/>
                </a:solidFill>
              </a:rPr>
              <a:t>Produto e Serviço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F37F53A-B119-43BB-884D-D7518F596413}"/>
              </a:ext>
            </a:extLst>
          </p:cNvPr>
          <p:cNvSpPr txBox="1"/>
          <p:nvPr/>
        </p:nvSpPr>
        <p:spPr>
          <a:xfrm>
            <a:off x="9944288" y="3046431"/>
            <a:ext cx="12007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>
                <a:solidFill>
                  <a:srgbClr val="C00000"/>
                </a:solidFill>
              </a:rPr>
              <a:t>Tarefas do Cliente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4715004-1ED3-41BB-85EF-D178E32837EB}"/>
              </a:ext>
            </a:extLst>
          </p:cNvPr>
          <p:cNvSpPr txBox="1"/>
          <p:nvPr/>
        </p:nvSpPr>
        <p:spPr>
          <a:xfrm>
            <a:off x="8218516" y="946933"/>
            <a:ext cx="2330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>
                <a:solidFill>
                  <a:srgbClr val="C00000"/>
                </a:solidFill>
              </a:rPr>
              <a:t>Cliente / Perfil do Cliente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75ACF0C-61CD-41FA-8246-26A5D7781F4A}"/>
              </a:ext>
            </a:extLst>
          </p:cNvPr>
          <p:cNvSpPr txBox="1"/>
          <p:nvPr/>
        </p:nvSpPr>
        <p:spPr>
          <a:xfrm>
            <a:off x="1938747" y="946933"/>
            <a:ext cx="2565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>
                <a:solidFill>
                  <a:srgbClr val="0070C0"/>
                </a:solidFill>
              </a:rPr>
              <a:t>Produto / Mapa de Valor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AE991F3-27DE-44B9-96AF-30FFF57C86F1}"/>
              </a:ext>
            </a:extLst>
          </p:cNvPr>
          <p:cNvSpPr txBox="1"/>
          <p:nvPr/>
        </p:nvSpPr>
        <p:spPr>
          <a:xfrm>
            <a:off x="6973835" y="3930952"/>
            <a:ext cx="13607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>
                <a:solidFill>
                  <a:srgbClr val="C00000"/>
                </a:solidFill>
              </a:rPr>
              <a:t>Dores do Cliente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AB7BE0D-950F-4E15-A1D2-B5765DDD376B}"/>
              </a:ext>
            </a:extLst>
          </p:cNvPr>
          <p:cNvSpPr txBox="1"/>
          <p:nvPr/>
        </p:nvSpPr>
        <p:spPr>
          <a:xfrm>
            <a:off x="6973835" y="3539285"/>
            <a:ext cx="14112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>
                <a:solidFill>
                  <a:srgbClr val="C00000"/>
                </a:solidFill>
              </a:rPr>
              <a:t>Ganhos do Cliente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54674DB-7607-469A-AAD6-7420A7A77357}"/>
              </a:ext>
            </a:extLst>
          </p:cNvPr>
          <p:cNvSpPr txBox="1"/>
          <p:nvPr/>
        </p:nvSpPr>
        <p:spPr>
          <a:xfrm>
            <a:off x="3326183" y="3930952"/>
            <a:ext cx="18850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>
                <a:solidFill>
                  <a:srgbClr val="0070C0"/>
                </a:solidFill>
              </a:rPr>
              <a:t>Alívio das Dores (Analgésicos)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BD29039-DC0E-4F83-A383-AF02B753B210}"/>
              </a:ext>
            </a:extLst>
          </p:cNvPr>
          <p:cNvSpPr txBox="1"/>
          <p:nvPr/>
        </p:nvSpPr>
        <p:spPr>
          <a:xfrm>
            <a:off x="3371327" y="3535773"/>
            <a:ext cx="15908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>
                <a:solidFill>
                  <a:srgbClr val="0070C0"/>
                </a:solidFill>
              </a:rPr>
              <a:t>Criadores de Ganho</a:t>
            </a:r>
          </a:p>
        </p:txBody>
      </p:sp>
      <p:sp>
        <p:nvSpPr>
          <p:cNvPr id="24" name="Retângulo: Canto Dobrado 23">
            <a:extLst>
              <a:ext uri="{FF2B5EF4-FFF2-40B4-BE49-F238E27FC236}">
                <a16:creationId xmlns:a16="http://schemas.microsoft.com/office/drawing/2014/main" id="{CB494839-F360-49DD-87AE-5692B89404EB}"/>
              </a:ext>
            </a:extLst>
          </p:cNvPr>
          <p:cNvSpPr/>
          <p:nvPr/>
        </p:nvSpPr>
        <p:spPr>
          <a:xfrm>
            <a:off x="7982738" y="4416839"/>
            <a:ext cx="1177142" cy="1299179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Aborda os resultados </a:t>
            </a:r>
            <a:r>
              <a:rPr lang="pt-BR" sz="1000" b="1">
                <a:solidFill>
                  <a:srgbClr val="FF0000"/>
                </a:solidFill>
              </a:rPr>
              <a:t>ruins</a:t>
            </a:r>
            <a:r>
              <a:rPr lang="pt-BR" sz="1000"/>
              <a:t>, os </a:t>
            </a:r>
            <a:r>
              <a:rPr lang="pt-BR" sz="1000" b="1">
                <a:solidFill>
                  <a:srgbClr val="FF0000"/>
                </a:solidFill>
              </a:rPr>
              <a:t>riscos</a:t>
            </a:r>
            <a:r>
              <a:rPr lang="pt-BR" sz="1000"/>
              <a:t> e os </a:t>
            </a:r>
            <a:r>
              <a:rPr lang="pt-BR" sz="1000" b="1">
                <a:solidFill>
                  <a:srgbClr val="FF0000"/>
                </a:solidFill>
              </a:rPr>
              <a:t>obstáculos</a:t>
            </a:r>
            <a:r>
              <a:rPr lang="pt-BR" sz="1000"/>
              <a:t> relativos às </a:t>
            </a:r>
            <a:r>
              <a:rPr lang="pt-BR" sz="1000" i="1">
                <a:solidFill>
                  <a:srgbClr val="FF0000"/>
                </a:solidFill>
              </a:rPr>
              <a:t>tarefas</a:t>
            </a:r>
            <a:r>
              <a:rPr lang="pt-BR" sz="1000"/>
              <a:t> do cliente para atingir os </a:t>
            </a:r>
            <a:r>
              <a:rPr lang="pt-BR" sz="1000" i="1">
                <a:solidFill>
                  <a:srgbClr val="FF0000"/>
                </a:solidFill>
              </a:rPr>
              <a:t>ganhos</a:t>
            </a:r>
          </a:p>
        </p:txBody>
      </p:sp>
      <p:sp>
        <p:nvSpPr>
          <p:cNvPr id="30" name="Retângulo: Canto Dobrado 29">
            <a:extLst>
              <a:ext uri="{FF2B5EF4-FFF2-40B4-BE49-F238E27FC236}">
                <a16:creationId xmlns:a16="http://schemas.microsoft.com/office/drawing/2014/main" id="{27D7C533-C714-4361-9A8B-8E96688EEE57}"/>
              </a:ext>
            </a:extLst>
          </p:cNvPr>
          <p:cNvSpPr/>
          <p:nvPr/>
        </p:nvSpPr>
        <p:spPr>
          <a:xfrm>
            <a:off x="8281313" y="1776044"/>
            <a:ext cx="1023582" cy="1510404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Resultados que os clientes esperam </a:t>
            </a:r>
            <a:r>
              <a:rPr lang="pt-BR" sz="1000" b="1">
                <a:solidFill>
                  <a:srgbClr val="FF0000"/>
                </a:solidFill>
              </a:rPr>
              <a:t>alcançar</a:t>
            </a:r>
            <a:r>
              <a:rPr lang="pt-BR" sz="1000"/>
              <a:t> ou se </a:t>
            </a:r>
            <a:r>
              <a:rPr lang="pt-BR" sz="1000" b="1">
                <a:solidFill>
                  <a:srgbClr val="FF0000"/>
                </a:solidFill>
              </a:rPr>
              <a:t>beneficiar</a:t>
            </a:r>
          </a:p>
          <a:p>
            <a:pPr algn="ctr"/>
            <a:r>
              <a:rPr lang="pt-BR" sz="1000" b="1">
                <a:solidFill>
                  <a:srgbClr val="FF0000"/>
                </a:solidFill>
              </a:rPr>
              <a:t>(pode separar por vários tipos de usuários)</a:t>
            </a:r>
          </a:p>
        </p:txBody>
      </p:sp>
      <p:sp>
        <p:nvSpPr>
          <p:cNvPr id="34" name="Retângulo: Canto Dobrado 33">
            <a:extLst>
              <a:ext uri="{FF2B5EF4-FFF2-40B4-BE49-F238E27FC236}">
                <a16:creationId xmlns:a16="http://schemas.microsoft.com/office/drawing/2014/main" id="{04DD3690-010B-4176-8C5D-6926BDF527A3}"/>
              </a:ext>
            </a:extLst>
          </p:cNvPr>
          <p:cNvSpPr/>
          <p:nvPr/>
        </p:nvSpPr>
        <p:spPr>
          <a:xfrm>
            <a:off x="3539708" y="1701792"/>
            <a:ext cx="1031271" cy="1709990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>
                <a:solidFill>
                  <a:srgbClr val="FF0000"/>
                </a:solidFill>
              </a:rPr>
              <a:t>Como</a:t>
            </a:r>
            <a:r>
              <a:rPr lang="pt-BR" sz="1000"/>
              <a:t> os produtos e/ou serviços </a:t>
            </a:r>
            <a:r>
              <a:rPr lang="pt-BR" sz="1000" b="1">
                <a:solidFill>
                  <a:srgbClr val="FF0000"/>
                </a:solidFill>
              </a:rPr>
              <a:t>criam ganhos para o cliente, incluindo os diferenciais</a:t>
            </a:r>
          </a:p>
        </p:txBody>
      </p:sp>
      <p:sp>
        <p:nvSpPr>
          <p:cNvPr id="35" name="Retângulo: Canto Dobrado 34">
            <a:extLst>
              <a:ext uri="{FF2B5EF4-FFF2-40B4-BE49-F238E27FC236}">
                <a16:creationId xmlns:a16="http://schemas.microsoft.com/office/drawing/2014/main" id="{B3CE7DA6-5E31-42AE-BBF9-62D378264579}"/>
              </a:ext>
            </a:extLst>
          </p:cNvPr>
          <p:cNvSpPr/>
          <p:nvPr/>
        </p:nvSpPr>
        <p:spPr>
          <a:xfrm>
            <a:off x="3509184" y="4292729"/>
            <a:ext cx="1325657" cy="572234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>
                <a:solidFill>
                  <a:srgbClr val="FF0000"/>
                </a:solidFill>
              </a:rPr>
              <a:t>Como</a:t>
            </a:r>
            <a:r>
              <a:rPr lang="pt-BR" sz="1000"/>
              <a:t> os produtos e/ou serviços </a:t>
            </a:r>
            <a:r>
              <a:rPr lang="pt-BR" sz="1000" b="1">
                <a:solidFill>
                  <a:srgbClr val="FF0000"/>
                </a:solidFill>
              </a:rPr>
              <a:t>aliviam as dores do cliente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702A671-E982-45E5-849B-12152D158D57}"/>
              </a:ext>
            </a:extLst>
          </p:cNvPr>
          <p:cNvSpPr txBox="1"/>
          <p:nvPr/>
        </p:nvSpPr>
        <p:spPr>
          <a:xfrm>
            <a:off x="3915820" y="648866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u="sng">
                <a:solidFill>
                  <a:srgbClr val="FF0000"/>
                </a:solidFill>
              </a:rPr>
              <a:t>https://www.youtube.com/watch?v=FaoiWFwQrzU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A439D0D-B8A9-4974-B220-BA0625518B76}"/>
              </a:ext>
            </a:extLst>
          </p:cNvPr>
          <p:cNvSpPr txBox="1"/>
          <p:nvPr/>
        </p:nvSpPr>
        <p:spPr>
          <a:xfrm>
            <a:off x="4429957" y="355103"/>
            <a:ext cx="3032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VALUE PROPOSITION CANVAS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6FC269F-093B-4F8A-A755-A30E6FC57D77}"/>
              </a:ext>
            </a:extLst>
          </p:cNvPr>
          <p:cNvSpPr txBox="1"/>
          <p:nvPr/>
        </p:nvSpPr>
        <p:spPr>
          <a:xfrm>
            <a:off x="5388745" y="701332"/>
            <a:ext cx="105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/>
              <a:t>Estrutura</a:t>
            </a:r>
          </a:p>
        </p:txBody>
      </p:sp>
    </p:spTree>
    <p:extLst>
      <p:ext uri="{BB962C8B-B14F-4D97-AF65-F5344CB8AC3E}">
        <p14:creationId xmlns:p14="http://schemas.microsoft.com/office/powerpoint/2010/main" val="219816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4CCDEACD-E521-4E54-B5F0-C111FE25D67D}"/>
              </a:ext>
            </a:extLst>
          </p:cNvPr>
          <p:cNvSpPr/>
          <p:nvPr/>
        </p:nvSpPr>
        <p:spPr>
          <a:xfrm>
            <a:off x="6879062" y="1520320"/>
            <a:ext cx="4680000" cy="46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0DFF341-2DD1-4A9E-9A75-8F5318AC6D24}"/>
              </a:ext>
            </a:extLst>
          </p:cNvPr>
          <p:cNvSpPr/>
          <p:nvPr/>
        </p:nvSpPr>
        <p:spPr>
          <a:xfrm>
            <a:off x="671199" y="1494868"/>
            <a:ext cx="4680000" cy="468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38CA864F-EBE1-4A98-8627-20F3029A6296}"/>
              </a:ext>
            </a:extLst>
          </p:cNvPr>
          <p:cNvCxnSpPr/>
          <p:nvPr/>
        </p:nvCxnSpPr>
        <p:spPr>
          <a:xfrm>
            <a:off x="2954740" y="3860320"/>
            <a:ext cx="314126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E7675D9-7849-4494-A310-F06FF2833BA5}"/>
              </a:ext>
            </a:extLst>
          </p:cNvPr>
          <p:cNvCxnSpPr/>
          <p:nvPr/>
        </p:nvCxnSpPr>
        <p:spPr>
          <a:xfrm flipH="1">
            <a:off x="6107961" y="3860320"/>
            <a:ext cx="3111102" cy="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3558067-770A-4CEF-9298-FAF916EB9C41}"/>
              </a:ext>
            </a:extLst>
          </p:cNvPr>
          <p:cNvCxnSpPr/>
          <p:nvPr/>
        </p:nvCxnSpPr>
        <p:spPr>
          <a:xfrm flipH="1" flipV="1">
            <a:off x="624639" y="1520320"/>
            <a:ext cx="2330101" cy="2340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67DB9E7-388C-48F3-AD99-920E4F00C847}"/>
              </a:ext>
            </a:extLst>
          </p:cNvPr>
          <p:cNvCxnSpPr/>
          <p:nvPr/>
        </p:nvCxnSpPr>
        <p:spPr>
          <a:xfrm flipH="1">
            <a:off x="624637" y="3860320"/>
            <a:ext cx="2330103" cy="2340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13652B0-D0ED-46EB-B904-4CBBF21FC1CB}"/>
              </a:ext>
            </a:extLst>
          </p:cNvPr>
          <p:cNvCxnSpPr/>
          <p:nvPr/>
        </p:nvCxnSpPr>
        <p:spPr>
          <a:xfrm flipV="1">
            <a:off x="9219063" y="1755153"/>
            <a:ext cx="1023582" cy="21051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635F4F7-F670-4DAA-A2C8-B2AE39227F5C}"/>
              </a:ext>
            </a:extLst>
          </p:cNvPr>
          <p:cNvCxnSpPr/>
          <p:nvPr/>
        </p:nvCxnSpPr>
        <p:spPr>
          <a:xfrm>
            <a:off x="9219063" y="3860320"/>
            <a:ext cx="1023582" cy="21051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4EBA6DBD-8619-4580-BF6F-0FF66720E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740" y="3411782"/>
            <a:ext cx="900000" cy="9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4A98904-A0EF-4587-AC83-A200491DF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570" y="3411782"/>
            <a:ext cx="942985" cy="900000"/>
          </a:xfrm>
          <a:prstGeom prst="rect">
            <a:avLst/>
          </a:prstGeom>
        </p:spPr>
      </p:pic>
      <p:sp>
        <p:nvSpPr>
          <p:cNvPr id="14" name="Retângulo: Canto Dobrado 13">
            <a:extLst>
              <a:ext uri="{FF2B5EF4-FFF2-40B4-BE49-F238E27FC236}">
                <a16:creationId xmlns:a16="http://schemas.microsoft.com/office/drawing/2014/main" id="{A2732CC8-B27B-4B1B-A4A4-4E435BB9E3A7}"/>
              </a:ext>
            </a:extLst>
          </p:cNvPr>
          <p:cNvSpPr/>
          <p:nvPr/>
        </p:nvSpPr>
        <p:spPr>
          <a:xfrm>
            <a:off x="9957853" y="3662730"/>
            <a:ext cx="1121474" cy="1214698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pt-BR" sz="1000"/>
              <a:t>Realizar  compras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pt-BR" sz="1000"/>
              <a:t>Receber novidades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pt-BR" sz="1000"/>
              <a:t>Aproveitar oportunidades</a:t>
            </a:r>
          </a:p>
        </p:txBody>
      </p:sp>
      <p:sp>
        <p:nvSpPr>
          <p:cNvPr id="15" name="Retângulo: Canto Dobrado 14">
            <a:extLst>
              <a:ext uri="{FF2B5EF4-FFF2-40B4-BE49-F238E27FC236}">
                <a16:creationId xmlns:a16="http://schemas.microsoft.com/office/drawing/2014/main" id="{0616CB71-B9CD-4A41-86CF-1CDD047A13C7}"/>
              </a:ext>
            </a:extLst>
          </p:cNvPr>
          <p:cNvSpPr/>
          <p:nvPr/>
        </p:nvSpPr>
        <p:spPr>
          <a:xfrm>
            <a:off x="956323" y="3666226"/>
            <a:ext cx="993032" cy="395179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Venda de Livros Online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E2376BE-6C39-40D8-8CAD-495E9557287F}"/>
              </a:ext>
            </a:extLst>
          </p:cNvPr>
          <p:cNvSpPr txBox="1"/>
          <p:nvPr/>
        </p:nvSpPr>
        <p:spPr>
          <a:xfrm>
            <a:off x="771817" y="3314999"/>
            <a:ext cx="13607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>
                <a:solidFill>
                  <a:srgbClr val="0070C0"/>
                </a:solidFill>
              </a:rPr>
              <a:t>Produto e Serviço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F37F53A-B119-43BB-884D-D7518F596413}"/>
              </a:ext>
            </a:extLst>
          </p:cNvPr>
          <p:cNvSpPr txBox="1"/>
          <p:nvPr/>
        </p:nvSpPr>
        <p:spPr>
          <a:xfrm>
            <a:off x="9882142" y="3311504"/>
            <a:ext cx="13607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>
                <a:solidFill>
                  <a:srgbClr val="C00000"/>
                </a:solidFill>
              </a:rPr>
              <a:t>Tarefas do Cliente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4715004-1ED3-41BB-85EF-D178E32837EB}"/>
              </a:ext>
            </a:extLst>
          </p:cNvPr>
          <p:cNvSpPr txBox="1"/>
          <p:nvPr/>
        </p:nvSpPr>
        <p:spPr>
          <a:xfrm>
            <a:off x="7793810" y="1012081"/>
            <a:ext cx="2594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>
                <a:solidFill>
                  <a:srgbClr val="C00000"/>
                </a:solidFill>
              </a:rPr>
              <a:t>Cliente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75ACF0C-61CD-41FA-8246-26A5D7781F4A}"/>
              </a:ext>
            </a:extLst>
          </p:cNvPr>
          <p:cNvSpPr txBox="1"/>
          <p:nvPr/>
        </p:nvSpPr>
        <p:spPr>
          <a:xfrm>
            <a:off x="2351747" y="946933"/>
            <a:ext cx="13607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>
                <a:solidFill>
                  <a:srgbClr val="0070C0"/>
                </a:solidFill>
              </a:rPr>
              <a:t>Produto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AE991F3-27DE-44B9-96AF-30FFF57C86F1}"/>
              </a:ext>
            </a:extLst>
          </p:cNvPr>
          <p:cNvSpPr txBox="1"/>
          <p:nvPr/>
        </p:nvSpPr>
        <p:spPr>
          <a:xfrm>
            <a:off x="6973835" y="3930952"/>
            <a:ext cx="13607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>
                <a:solidFill>
                  <a:srgbClr val="C00000"/>
                </a:solidFill>
              </a:rPr>
              <a:t>Dores do Cliente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AB7BE0D-950F-4E15-A1D2-B5765DDD376B}"/>
              </a:ext>
            </a:extLst>
          </p:cNvPr>
          <p:cNvSpPr txBox="1"/>
          <p:nvPr/>
        </p:nvSpPr>
        <p:spPr>
          <a:xfrm>
            <a:off x="6973835" y="3539285"/>
            <a:ext cx="14112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>
                <a:solidFill>
                  <a:srgbClr val="C00000"/>
                </a:solidFill>
              </a:rPr>
              <a:t>Ganhos do Cliente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BD29039-DC0E-4F83-A383-AF02B753B210}"/>
              </a:ext>
            </a:extLst>
          </p:cNvPr>
          <p:cNvSpPr txBox="1"/>
          <p:nvPr/>
        </p:nvSpPr>
        <p:spPr>
          <a:xfrm>
            <a:off x="3371327" y="3535773"/>
            <a:ext cx="15908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>
                <a:solidFill>
                  <a:srgbClr val="0070C0"/>
                </a:solidFill>
              </a:rPr>
              <a:t>Criadores de Ganho</a:t>
            </a:r>
          </a:p>
        </p:txBody>
      </p:sp>
      <p:sp>
        <p:nvSpPr>
          <p:cNvPr id="24" name="Retângulo: Canto Dobrado 23">
            <a:extLst>
              <a:ext uri="{FF2B5EF4-FFF2-40B4-BE49-F238E27FC236}">
                <a16:creationId xmlns:a16="http://schemas.microsoft.com/office/drawing/2014/main" id="{CB494839-F360-49DD-87AE-5692B89404EB}"/>
              </a:ext>
            </a:extLst>
          </p:cNvPr>
          <p:cNvSpPr/>
          <p:nvPr/>
        </p:nvSpPr>
        <p:spPr>
          <a:xfrm>
            <a:off x="7205239" y="4288171"/>
            <a:ext cx="1177142" cy="395179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Perda de tempo com deslocamento</a:t>
            </a:r>
          </a:p>
        </p:txBody>
      </p:sp>
      <p:sp>
        <p:nvSpPr>
          <p:cNvPr id="25" name="Retângulo: Canto Dobrado 24">
            <a:extLst>
              <a:ext uri="{FF2B5EF4-FFF2-40B4-BE49-F238E27FC236}">
                <a16:creationId xmlns:a16="http://schemas.microsoft.com/office/drawing/2014/main" id="{33B9512D-9610-4C87-A91D-D9CBB9BFB99A}"/>
              </a:ext>
            </a:extLst>
          </p:cNvPr>
          <p:cNvSpPr/>
          <p:nvPr/>
        </p:nvSpPr>
        <p:spPr>
          <a:xfrm>
            <a:off x="7653414" y="5170395"/>
            <a:ext cx="1177142" cy="395179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Catálogo desatualizado</a:t>
            </a:r>
          </a:p>
        </p:txBody>
      </p:sp>
      <p:sp>
        <p:nvSpPr>
          <p:cNvPr id="26" name="Retângulo: Canto Dobrado 25">
            <a:extLst>
              <a:ext uri="{FF2B5EF4-FFF2-40B4-BE49-F238E27FC236}">
                <a16:creationId xmlns:a16="http://schemas.microsoft.com/office/drawing/2014/main" id="{EC636719-AD81-4D03-999E-87BC5EB223CF}"/>
              </a:ext>
            </a:extLst>
          </p:cNvPr>
          <p:cNvSpPr/>
          <p:nvPr/>
        </p:nvSpPr>
        <p:spPr>
          <a:xfrm>
            <a:off x="8311138" y="5625245"/>
            <a:ext cx="1445422" cy="395179"/>
          </a:xfrm>
          <a:prstGeom prst="foldedCorner">
            <a:avLst>
              <a:gd name="adj" fmla="val 768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Perda de promoções ou lançamentos</a:t>
            </a:r>
          </a:p>
        </p:txBody>
      </p:sp>
      <p:sp>
        <p:nvSpPr>
          <p:cNvPr id="27" name="Retângulo: Canto Dobrado 26">
            <a:extLst>
              <a:ext uri="{FF2B5EF4-FFF2-40B4-BE49-F238E27FC236}">
                <a16:creationId xmlns:a16="http://schemas.microsoft.com/office/drawing/2014/main" id="{E7F58CDD-0791-42D5-BA0A-FF3C4D298D52}"/>
              </a:ext>
            </a:extLst>
          </p:cNvPr>
          <p:cNvSpPr/>
          <p:nvPr/>
        </p:nvSpPr>
        <p:spPr>
          <a:xfrm>
            <a:off x="7905586" y="2994659"/>
            <a:ext cx="1134635" cy="395179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Economia de tempo</a:t>
            </a:r>
          </a:p>
        </p:txBody>
      </p:sp>
      <p:sp>
        <p:nvSpPr>
          <p:cNvPr id="28" name="Retângulo: Canto Dobrado 27">
            <a:extLst>
              <a:ext uri="{FF2B5EF4-FFF2-40B4-BE49-F238E27FC236}">
                <a16:creationId xmlns:a16="http://schemas.microsoft.com/office/drawing/2014/main" id="{AEB35EB0-3DE0-4179-B287-91679194ACDC}"/>
              </a:ext>
            </a:extLst>
          </p:cNvPr>
          <p:cNvSpPr/>
          <p:nvPr/>
        </p:nvSpPr>
        <p:spPr>
          <a:xfrm>
            <a:off x="7550044" y="2518765"/>
            <a:ext cx="848972" cy="395179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Informações precisas</a:t>
            </a:r>
          </a:p>
        </p:txBody>
      </p:sp>
      <p:sp>
        <p:nvSpPr>
          <p:cNvPr id="29" name="Retângulo: Canto Dobrado 28">
            <a:extLst>
              <a:ext uri="{FF2B5EF4-FFF2-40B4-BE49-F238E27FC236}">
                <a16:creationId xmlns:a16="http://schemas.microsoft.com/office/drawing/2014/main" id="{77531040-5117-44A3-9C1A-DD5346FD7C46}"/>
              </a:ext>
            </a:extLst>
          </p:cNvPr>
          <p:cNvSpPr/>
          <p:nvPr/>
        </p:nvSpPr>
        <p:spPr>
          <a:xfrm>
            <a:off x="8634762" y="2517094"/>
            <a:ext cx="851121" cy="395179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Economia de dinheiro</a:t>
            </a:r>
          </a:p>
        </p:txBody>
      </p:sp>
      <p:sp>
        <p:nvSpPr>
          <p:cNvPr id="30" name="Retângulo: Canto Dobrado 29">
            <a:extLst>
              <a:ext uri="{FF2B5EF4-FFF2-40B4-BE49-F238E27FC236}">
                <a16:creationId xmlns:a16="http://schemas.microsoft.com/office/drawing/2014/main" id="{27D7C533-C714-4361-9A8B-8E96688EEE57}"/>
              </a:ext>
            </a:extLst>
          </p:cNvPr>
          <p:cNvSpPr/>
          <p:nvPr/>
        </p:nvSpPr>
        <p:spPr>
          <a:xfrm>
            <a:off x="7949717" y="2036682"/>
            <a:ext cx="1023582" cy="395179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Prazer em consumir</a:t>
            </a:r>
          </a:p>
        </p:txBody>
      </p:sp>
      <p:sp>
        <p:nvSpPr>
          <p:cNvPr id="32" name="Retângulo: Canto Dobrado 31">
            <a:extLst>
              <a:ext uri="{FF2B5EF4-FFF2-40B4-BE49-F238E27FC236}">
                <a16:creationId xmlns:a16="http://schemas.microsoft.com/office/drawing/2014/main" id="{87CB7A9A-5159-45F2-B295-9C0E2544CA28}"/>
              </a:ext>
            </a:extLst>
          </p:cNvPr>
          <p:cNvSpPr/>
          <p:nvPr/>
        </p:nvSpPr>
        <p:spPr>
          <a:xfrm>
            <a:off x="2799680" y="2363894"/>
            <a:ext cx="1209631" cy="395179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Site com Design Moderno (UX)</a:t>
            </a:r>
          </a:p>
        </p:txBody>
      </p:sp>
      <p:sp>
        <p:nvSpPr>
          <p:cNvPr id="33" name="Retângulo: Canto Dobrado 32">
            <a:extLst>
              <a:ext uri="{FF2B5EF4-FFF2-40B4-BE49-F238E27FC236}">
                <a16:creationId xmlns:a16="http://schemas.microsoft.com/office/drawing/2014/main" id="{10B6D9BF-8F44-4DC9-B5C7-1D4A5FD83FC8}"/>
              </a:ext>
            </a:extLst>
          </p:cNvPr>
          <p:cNvSpPr/>
          <p:nvPr/>
        </p:nvSpPr>
        <p:spPr>
          <a:xfrm>
            <a:off x="3915820" y="3033821"/>
            <a:ext cx="1031271" cy="395179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Integração com editoras</a:t>
            </a:r>
          </a:p>
        </p:txBody>
      </p:sp>
      <p:sp>
        <p:nvSpPr>
          <p:cNvPr id="34" name="Retângulo: Canto Dobrado 33">
            <a:extLst>
              <a:ext uri="{FF2B5EF4-FFF2-40B4-BE49-F238E27FC236}">
                <a16:creationId xmlns:a16="http://schemas.microsoft.com/office/drawing/2014/main" id="{04DD3690-010B-4176-8C5D-6926BDF527A3}"/>
              </a:ext>
            </a:extLst>
          </p:cNvPr>
          <p:cNvSpPr/>
          <p:nvPr/>
        </p:nvSpPr>
        <p:spPr>
          <a:xfrm>
            <a:off x="1701033" y="1755153"/>
            <a:ext cx="1031271" cy="395179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Site responsivo</a:t>
            </a:r>
          </a:p>
        </p:txBody>
      </p:sp>
      <p:sp>
        <p:nvSpPr>
          <p:cNvPr id="35" name="Retângulo: Canto Dobrado 34">
            <a:extLst>
              <a:ext uri="{FF2B5EF4-FFF2-40B4-BE49-F238E27FC236}">
                <a16:creationId xmlns:a16="http://schemas.microsoft.com/office/drawing/2014/main" id="{B3CE7DA6-5E31-42AE-BBF9-62D378264579}"/>
              </a:ext>
            </a:extLst>
          </p:cNvPr>
          <p:cNvSpPr/>
          <p:nvPr/>
        </p:nvSpPr>
        <p:spPr>
          <a:xfrm>
            <a:off x="3965086" y="4308859"/>
            <a:ext cx="1006921" cy="495863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Informações sempre atualizadas</a:t>
            </a:r>
          </a:p>
        </p:txBody>
      </p:sp>
      <p:sp>
        <p:nvSpPr>
          <p:cNvPr id="36" name="Retângulo: Canto Dobrado 35">
            <a:extLst>
              <a:ext uri="{FF2B5EF4-FFF2-40B4-BE49-F238E27FC236}">
                <a16:creationId xmlns:a16="http://schemas.microsoft.com/office/drawing/2014/main" id="{5A8DA706-E8AD-4463-BFB3-01CB0986C4FD}"/>
              </a:ext>
            </a:extLst>
          </p:cNvPr>
          <p:cNvSpPr/>
          <p:nvPr/>
        </p:nvSpPr>
        <p:spPr>
          <a:xfrm>
            <a:off x="2313028" y="4897512"/>
            <a:ext cx="1177142" cy="395179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Compra com pouco cliques</a:t>
            </a:r>
          </a:p>
        </p:txBody>
      </p:sp>
      <p:sp>
        <p:nvSpPr>
          <p:cNvPr id="37" name="Retângulo: Canto Dobrado 36">
            <a:extLst>
              <a:ext uri="{FF2B5EF4-FFF2-40B4-BE49-F238E27FC236}">
                <a16:creationId xmlns:a16="http://schemas.microsoft.com/office/drawing/2014/main" id="{5B1155CC-2C9D-4A85-8AAF-F9B6391A83EE}"/>
              </a:ext>
            </a:extLst>
          </p:cNvPr>
          <p:cNvSpPr/>
          <p:nvPr/>
        </p:nvSpPr>
        <p:spPr>
          <a:xfrm>
            <a:off x="1535225" y="5626591"/>
            <a:ext cx="1496895" cy="395179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Acesso multiplataforma com alta disponibilidade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702A671-E982-45E5-849B-12152D158D57}"/>
              </a:ext>
            </a:extLst>
          </p:cNvPr>
          <p:cNvSpPr txBox="1"/>
          <p:nvPr/>
        </p:nvSpPr>
        <p:spPr>
          <a:xfrm>
            <a:off x="3915820" y="648866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u="sng">
                <a:solidFill>
                  <a:srgbClr val="FF0000"/>
                </a:solidFill>
              </a:rPr>
              <a:t>https://www.youtube.com/watch?v=FaoiWFwQrzU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A439D0D-B8A9-4974-B220-BA0625518B76}"/>
              </a:ext>
            </a:extLst>
          </p:cNvPr>
          <p:cNvSpPr txBox="1"/>
          <p:nvPr/>
        </p:nvSpPr>
        <p:spPr>
          <a:xfrm>
            <a:off x="4429957" y="355103"/>
            <a:ext cx="3032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VALUE PROPOSITION CANVAS</a:t>
            </a:r>
          </a:p>
        </p:txBody>
      </p:sp>
      <p:sp>
        <p:nvSpPr>
          <p:cNvPr id="39" name="Retângulo: Canto Dobrado 38">
            <a:extLst>
              <a:ext uri="{FF2B5EF4-FFF2-40B4-BE49-F238E27FC236}">
                <a16:creationId xmlns:a16="http://schemas.microsoft.com/office/drawing/2014/main" id="{2212C47C-351E-47DE-BE6B-947F195FE16C}"/>
              </a:ext>
            </a:extLst>
          </p:cNvPr>
          <p:cNvSpPr/>
          <p:nvPr/>
        </p:nvSpPr>
        <p:spPr>
          <a:xfrm>
            <a:off x="8356231" y="4727990"/>
            <a:ext cx="1177142" cy="395179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Horário de </a:t>
            </a:r>
            <a:r>
              <a:rPr lang="pt-BR" sz="1000" err="1"/>
              <a:t>atend</a:t>
            </a:r>
            <a:r>
              <a:rPr lang="pt-BR" sz="1000"/>
              <a:t>. incompatível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4631592-E087-4AA3-8C55-278E5C05FBCA}"/>
              </a:ext>
            </a:extLst>
          </p:cNvPr>
          <p:cNvSpPr txBox="1"/>
          <p:nvPr/>
        </p:nvSpPr>
        <p:spPr>
          <a:xfrm>
            <a:off x="5415379" y="701332"/>
            <a:ext cx="975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/>
              <a:t>Exemplo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457D6CB-4ED9-4D34-A219-41CC86207C4F}"/>
              </a:ext>
            </a:extLst>
          </p:cNvPr>
          <p:cNvSpPr txBox="1"/>
          <p:nvPr/>
        </p:nvSpPr>
        <p:spPr>
          <a:xfrm>
            <a:off x="3326183" y="3930952"/>
            <a:ext cx="18850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>
                <a:solidFill>
                  <a:srgbClr val="0070C0"/>
                </a:solidFill>
              </a:rPr>
              <a:t>Alívio das Dores (Analgésicos)</a:t>
            </a:r>
          </a:p>
        </p:txBody>
      </p:sp>
      <p:sp>
        <p:nvSpPr>
          <p:cNvPr id="42" name="Retângulo: Canto Dobrado 41">
            <a:extLst>
              <a:ext uri="{FF2B5EF4-FFF2-40B4-BE49-F238E27FC236}">
                <a16:creationId xmlns:a16="http://schemas.microsoft.com/office/drawing/2014/main" id="{6FADA160-6D65-4DD9-ACDB-6112C694008D}"/>
              </a:ext>
            </a:extLst>
          </p:cNvPr>
          <p:cNvSpPr/>
          <p:nvPr/>
        </p:nvSpPr>
        <p:spPr>
          <a:xfrm>
            <a:off x="3862665" y="5292691"/>
            <a:ext cx="1177142" cy="672796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Com base em preferências, mantem clientes informados</a:t>
            </a:r>
          </a:p>
        </p:txBody>
      </p:sp>
      <p:sp>
        <p:nvSpPr>
          <p:cNvPr id="43" name="Retângulo: Canto Dobrado 42">
            <a:extLst>
              <a:ext uri="{FF2B5EF4-FFF2-40B4-BE49-F238E27FC236}">
                <a16:creationId xmlns:a16="http://schemas.microsoft.com/office/drawing/2014/main" id="{45D294DF-606D-4D4C-B04B-877BF00410A1}"/>
              </a:ext>
            </a:extLst>
          </p:cNvPr>
          <p:cNvSpPr/>
          <p:nvPr/>
        </p:nvSpPr>
        <p:spPr>
          <a:xfrm>
            <a:off x="3863730" y="1606690"/>
            <a:ext cx="1209631" cy="395179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/>
              <a:t>Módulo </a:t>
            </a:r>
            <a:r>
              <a:rPr lang="pt-BR" sz="1000" err="1"/>
              <a:t>Mini-CRM</a:t>
            </a:r>
            <a:r>
              <a:rPr lang="pt-BR" sz="1000"/>
              <a:t> com preferências</a:t>
            </a:r>
          </a:p>
        </p:txBody>
      </p:sp>
    </p:spTree>
    <p:extLst>
      <p:ext uri="{BB962C8B-B14F-4D97-AF65-F5344CB8AC3E}">
        <p14:creationId xmlns:p14="http://schemas.microsoft.com/office/powerpoint/2010/main" val="11656332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24305b-3a8f-420f-955e-2e1a5a939de2" xsi:nil="true"/>
    <lcf76f155ced4ddcb4097134ff3c332f xmlns="cab57bc6-0aad-4c80-a30f-bbd4ef7a8f3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00C1ABC62A77F408CCCD3E2FA81569F" ma:contentTypeVersion="10" ma:contentTypeDescription="Crie um novo documento." ma:contentTypeScope="" ma:versionID="0da87684ca19dc3ab62f81621c798eae">
  <xsd:schema xmlns:xsd="http://www.w3.org/2001/XMLSchema" xmlns:xs="http://www.w3.org/2001/XMLSchema" xmlns:p="http://schemas.microsoft.com/office/2006/metadata/properties" xmlns:ns2="cab57bc6-0aad-4c80-a30f-bbd4ef7a8f38" xmlns:ns3="4c24305b-3a8f-420f-955e-2e1a5a939de2" targetNamespace="http://schemas.microsoft.com/office/2006/metadata/properties" ma:root="true" ma:fieldsID="430b8e084987cf5266a655a3acc71cd2" ns2:_="" ns3:_="">
    <xsd:import namespace="cab57bc6-0aad-4c80-a30f-bbd4ef7a8f38"/>
    <xsd:import namespace="4c24305b-3a8f-420f-955e-2e1a5a939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b57bc6-0aad-4c80-a30f-bbd4ef7a8f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24305b-3a8f-420f-955e-2e1a5a939de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f335cb0-1453-4510-96bd-923a78948247}" ma:internalName="TaxCatchAll" ma:showField="CatchAllData" ma:web="4c24305b-3a8f-420f-955e-2e1a5a939d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5186E5-87DC-40FE-8171-173224BACE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F39BAF-FB0E-47BC-A295-4A3CEFA7A605}">
  <ds:schemaRefs>
    <ds:schemaRef ds:uri="4c24305b-3a8f-420f-955e-2e1a5a939de2"/>
    <ds:schemaRef ds:uri="cab57bc6-0aad-4c80-a30f-bbd4ef7a8f3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A503E-8614-4854-A865-CAC389E4D63E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do 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JOSE WALMIR GONCALVES DUQUE</dc:creator>
  <cp:revision>1</cp:revision>
  <dcterms:created xsi:type="dcterms:W3CDTF">2021-08-24T15:30:37Z</dcterms:created>
  <dcterms:modified xsi:type="dcterms:W3CDTF">2025-11-17T14:48:43Z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0x010100500C1ABC62A77F408CCCD3E2FA81569F</vt:lpwstr>
  </property>
  <property fmtid="{D5CDD505-2E9C-101B-9397-08002B2CF9AE}" pid="3" name="MediaServiceImageTags">
    <vt:lpwstr/>
  </property>
</Properties>
</file>