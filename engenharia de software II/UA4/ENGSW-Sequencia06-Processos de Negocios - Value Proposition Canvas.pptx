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notesMasterIdLst>
    <p:notesMasterId r:id="rId15"/>
  </p:notesMasterIdLst>
  <p:sldIdLst>
    <p:sldId id="256" r:id="rId6"/>
    <p:sldId id="258" r:id="rId7"/>
    <p:sldId id="367" r:id="rId8"/>
    <p:sldId id="368" r:id="rId9"/>
    <p:sldId id="350" r:id="rId10"/>
    <p:sldId id="369" r:id="rId11"/>
    <p:sldId id="351" r:id="rId12"/>
    <p:sldId id="354" r:id="rId13"/>
    <p:sldId id="370" r:id="rId14"/>
  </p:sldIdLst>
  <p:sldSz cx="9144000" cy="6858000" type="screen4x3"/>
  <p:notesSz cx="6858000" cy="9144000"/>
  <p:defaultTextStyle>
    <a:defPPr>
      <a:defRPr lang="pt-BR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/>
    <p:restoredTop sz="94671"/>
  </p:normalViewPr>
  <p:slideViewPr>
    <p:cSldViewPr showGuides="1">
      <p:cViewPr varScale="1">
        <p:scale>
          <a:sx n="81" d="100"/>
          <a:sy n="81" d="100"/>
        </p:scale>
        <p:origin x="145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5EF67D-6589-45CD-AE0F-421264000BF9}" type="datetimeFigureOut"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DejaVu Sans"/>
                <a:cs typeface="DejaVu Sans"/>
              </a:rPr>
              <a:t>26/10/2025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para editar os estilos de texto Mestres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Segundo nível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Terceiro nível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Quarto nível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>
              <a:buNone/>
            </a:pPr>
            <a:fld id="{9A0DB2DC-4C9A-4742-B13C-FB6460FD3503}" type="slidenum">
              <a:rPr lang="pt-BR" sz="1200" dirty="0"/>
              <a:t>‹nº›</a:t>
            </a:fld>
            <a:endParaRPr lang="pt-BR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4819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34820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5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686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36868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6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891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38916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7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0963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40964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8</a:t>
            </a:fld>
            <a:endParaRPr lang="pt-BR" altLang="pt-BR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301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43012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9</a:t>
            </a:fld>
            <a:endParaRPr lang="pt-BR" altLang="pt-BR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7292880" cy="58510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 dirty="0"/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729288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98FA03E-EF07-4CB3-8A03-46D75518B5D5}" type="datetimeFigureOut"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26/10/2025</a:t>
            </a:fld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0000" tIns="45000" rIns="90000" bIns="45000" numCol="1" anchor="t" anchorCtr="0" compatLnSpc="1"/>
          <a:lstStyle/>
          <a:p>
            <a:pPr eaLnBrk="1" hangingPunct="1">
              <a:buNone/>
            </a:pPr>
            <a:fld id="{9A0DB2DC-4C9A-4742-B13C-FB6460FD3503}" type="slidenum">
              <a:rPr lang="pt-BR" dirty="0">
                <a:latin typeface="Calibri" panose="020F0502020204030204" charset="0"/>
              </a:rPr>
              <a:t>‹nº›</a:t>
            </a:fld>
            <a:endParaRPr lang="pt-BR" dirty="0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0175" y="287338"/>
            <a:ext cx="923925" cy="114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Line 1"/>
          <p:cNvSpPr/>
          <p:nvPr/>
        </p:nvSpPr>
        <p:spPr>
          <a:xfrm>
            <a:off x="457200" y="1419225"/>
            <a:ext cx="7305675" cy="1588"/>
          </a:xfrm>
          <a:prstGeom prst="line">
            <a:avLst/>
          </a:prstGeom>
          <a:ln w="25560" cap="flat" cmpd="sng">
            <a:solidFill>
              <a:srgbClr val="404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8" name="PlaceHolder 2"/>
          <p:cNvSpPr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pt-BR" dirty="0"/>
              <a:t>Clique para editar o formato do texto do títuloClick to edit Master title style</a:t>
            </a:r>
            <a:endParaRPr lang="pt-BR" altLang="pt-BR" dirty="0"/>
          </a:p>
        </p:txBody>
      </p:sp>
      <p:sp>
        <p:nvSpPr>
          <p:cNvPr id="3" name="PlaceHolder 3"/>
          <p:cNvSpPr>
            <a:spLocks noGrp="1"/>
          </p:cNvSpPr>
          <p:nvPr>
            <p:ph type="dt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0000" tIns="45000" rIns="90000" bIns="45000" numCol="1" anchor="t" anchorCtr="0" compatLnSpc="1"/>
          <a:lstStyle>
            <a:lvl1pPr>
              <a:defRPr>
                <a:solidFill>
                  <a:srgbClr val="000000"/>
                </a:solidFill>
                <a:latin typeface="Calibri" panose="020F050202020403020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body"/>
          </p:nvPr>
        </p:nvSpPr>
        <p:spPr>
          <a:xfrm>
            <a:off x="457200" y="1604963"/>
            <a:ext cx="8229600" cy="4525963"/>
          </a:xfrm>
          <a:prstGeom prst="rect">
            <a:avLst/>
          </a:prstGeom>
        </p:spPr>
        <p:txBody>
          <a:bodyPr wrap="none" lIns="0" tIns="0" rIns="0" bIns="0"/>
          <a:lstStyle/>
          <a:p>
            <a:r>
              <a:rPr lang="en-US"/>
              <a:t>Clique para editar o formato do texto da estrutura de tópicos</a:t>
            </a:r>
          </a:p>
          <a:p>
            <a:pPr lvl="1"/>
            <a:r>
              <a:rPr lang="en-US"/>
              <a:t>2.º Nível da estrutura de tópicos</a:t>
            </a:r>
          </a:p>
          <a:p>
            <a:pPr lvl="2"/>
            <a:r>
              <a:rPr lang="en-US"/>
              <a:t>3.º Nível da estrutura de tópicos</a:t>
            </a:r>
          </a:p>
          <a:p>
            <a:pPr lvl="3"/>
            <a:r>
              <a:rPr lang="en-US"/>
              <a:t>4.º Nível da estrutura de tópicos</a:t>
            </a:r>
          </a:p>
          <a:p>
            <a:pPr lvl="4"/>
            <a:r>
              <a:rPr lang="en-US"/>
              <a:t>5.º Nível da estrutura de tópicos</a:t>
            </a:r>
          </a:p>
          <a:p>
            <a:pPr lvl="5"/>
            <a:r>
              <a:rPr lang="en-US"/>
              <a:t>6.º Nível da estrutura de tópicos</a:t>
            </a:r>
          </a:p>
          <a:p>
            <a:pPr lvl="6"/>
            <a:r>
              <a:rPr lang="en-US"/>
              <a:t>7.º Nível da estrutura de tópicos</a:t>
            </a:r>
          </a:p>
          <a:p>
            <a:pPr lvl="7"/>
            <a:r>
              <a:rPr lang="en-US"/>
              <a:t>8.º Nível da estrutura de tópicos</a:t>
            </a:r>
          </a:p>
          <a:p>
            <a:pPr lvl="8"/>
            <a:r>
              <a:rPr lang="en-US"/>
              <a:t>9.º Nível da estrutura de tópicos</a:t>
            </a:r>
          </a:p>
        </p:txBody>
      </p:sp>
      <p:pic>
        <p:nvPicPr>
          <p:cNvPr id="1033" name="Picture 2" descr="C:\Users\unassan\Desktop\ANDRESSA\SOMMERVILLE\CW\Template_MESTRE.jpg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36512" y="-26987"/>
            <a:ext cx="9180512" cy="6884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8"/>
          <p:cNvSpPr>
            <a:spLocks noGrp="1" noChangeArrowheads="1"/>
          </p:cNvSpPr>
          <p:nvPr/>
        </p:nvSpPr>
        <p:spPr bwMode="auto">
          <a:xfrm>
            <a:off x="250825" y="6453188"/>
            <a:ext cx="3214688" cy="214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lvl="0" eaLnBrk="1" hangingPunct="1">
              <a:buNone/>
            </a:pPr>
            <a:r>
              <a:rPr lang="pt-BR" altLang="pt-BR" sz="1200" dirty="0">
                <a:latin typeface="Arial" panose="020B0604020202020204" pitchFamily="34" charset="0"/>
              </a:rPr>
              <a:t>slide </a:t>
            </a:r>
            <a:fld id="{9A0DB2DC-4C9A-4742-B13C-FB6460FD3503}" type="slidenum">
              <a:rPr lang="pt-BR" altLang="pt-BR" sz="1200" dirty="0">
                <a:latin typeface="Arial" panose="020B0604020202020204" pitchFamily="34" charset="0"/>
              </a:rPr>
              <a:t>‹nº›</a:t>
            </a:fld>
            <a:endParaRPr lang="pt-BR" altLang="pt-BR" sz="1200" dirty="0">
              <a:latin typeface="Arial" panose="020B0604020202020204" pitchFamily="34" charset="0"/>
            </a:endParaRPr>
          </a:p>
          <a:p>
            <a:pPr lvl="0" eaLnBrk="1" hangingPunct="1">
              <a:buNone/>
            </a:pPr>
            <a:endParaRPr lang="pt-BR" altLang="pt-BR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50175" y="287338"/>
            <a:ext cx="923925" cy="114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Line 1"/>
          <p:cNvSpPr/>
          <p:nvPr/>
        </p:nvSpPr>
        <p:spPr>
          <a:xfrm>
            <a:off x="457200" y="1419225"/>
            <a:ext cx="7305675" cy="1588"/>
          </a:xfrm>
          <a:prstGeom prst="line">
            <a:avLst/>
          </a:prstGeom>
          <a:ln w="25560" cap="flat" cmpd="sng">
            <a:solidFill>
              <a:srgbClr val="404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2" name="PlaceHolder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7292975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pt-BR" dirty="0"/>
              <a:t>Clique para editar o formato do texto do títuloClick to edit Master title style</a:t>
            </a:r>
            <a:endParaRPr lang="pt-BR" altLang="pt-BR" dirty="0"/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US" dirty="0"/>
              <a:t>Clique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formato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pPr lvl="1"/>
            <a:r>
              <a:rPr lang="en-US" dirty="0"/>
              <a:t>2.º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pPr lvl="2"/>
            <a:r>
              <a:rPr lang="en-US" dirty="0"/>
              <a:t>3.º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pPr lvl="3"/>
            <a:r>
              <a:rPr lang="en-US" dirty="0"/>
              <a:t>4.º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pPr lvl="4"/>
            <a:r>
              <a:rPr lang="en-US" dirty="0"/>
              <a:t>5.º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pPr lvl="5"/>
            <a:r>
              <a:rPr lang="en-US" dirty="0"/>
              <a:t>6.º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pPr lvl="6"/>
            <a:r>
              <a:rPr lang="en-US" dirty="0"/>
              <a:t>7.º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pPr lvl="7"/>
            <a:r>
              <a:rPr lang="en-US" dirty="0"/>
              <a:t>8.º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</a:t>
            </a:r>
            <a:endParaRPr dirty="0"/>
          </a:p>
          <a:p>
            <a:r>
              <a:rPr lang="en-US" dirty="0"/>
              <a:t>9.º </a:t>
            </a:r>
            <a:r>
              <a:rPr lang="en-US" dirty="0" err="1"/>
              <a:t>Nível</a:t>
            </a:r>
            <a:r>
              <a:rPr lang="en-US" dirty="0"/>
              <a:t> da </a:t>
            </a:r>
            <a:r>
              <a:rPr lang="en-US" dirty="0" err="1"/>
              <a:t>estrutura</a:t>
            </a:r>
            <a:r>
              <a:rPr lang="en-US" dirty="0"/>
              <a:t> de </a:t>
            </a:r>
            <a:r>
              <a:rPr lang="en-US" dirty="0" err="1"/>
              <a:t>tópicosClick</a:t>
            </a:r>
            <a:r>
              <a:rPr lang="en-US" dirty="0"/>
              <a:t> to edit Master text styles</a:t>
            </a:r>
            <a:endParaRPr dirty="0"/>
          </a:p>
          <a:p>
            <a:pPr lvl="1"/>
            <a:r>
              <a:rPr lang="en-US" dirty="0"/>
              <a:t>Second level</a:t>
            </a:r>
            <a:endParaRPr dirty="0"/>
          </a:p>
          <a:p>
            <a:r>
              <a:rPr lang="en-US" dirty="0"/>
              <a:t>Third level</a:t>
            </a:r>
            <a:endParaRPr dirty="0"/>
          </a:p>
          <a:p>
            <a:r>
              <a:rPr lang="en-US" dirty="0"/>
              <a:t>Fourth level</a:t>
            </a:r>
            <a:endParaRPr dirty="0"/>
          </a:p>
          <a:p>
            <a:r>
              <a:rPr lang="en-US" dirty="0"/>
              <a:t>Fifth level</a:t>
            </a:r>
            <a:endParaRPr dirty="0"/>
          </a:p>
        </p:txBody>
      </p:sp>
      <p:sp>
        <p:nvSpPr>
          <p:cNvPr id="43" name="PlaceHolder 4"/>
          <p:cNvSpPr>
            <a:spLocks noGrp="1"/>
          </p:cNvSpPr>
          <p:nvPr>
            <p:ph type="dt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0000" tIns="45000" rIns="90000" bIns="45000" numCol="1" anchor="t" anchorCtr="0" compatLnSpc="1"/>
          <a:lstStyle>
            <a:lvl1pPr>
              <a:defRPr>
                <a:solidFill>
                  <a:srgbClr val="000000"/>
                </a:solidFill>
                <a:latin typeface="Calibri" panose="020F050202020403020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 dirty="0">
              <a:latin typeface="Arial" panose="020B0604020202020204" pitchFamily="34" charset="0"/>
            </a:endParaRPr>
          </a:p>
        </p:txBody>
      </p:sp>
      <p:pic>
        <p:nvPicPr>
          <p:cNvPr id="2057" name="Picture 2" descr="C:\Users\unassan\Desktop\ANDRESSA\SOMMERVILLE\CW\Template_MESTRE.jpg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-36512" y="-26987"/>
            <a:ext cx="9180512" cy="6884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8"/>
          <p:cNvSpPr>
            <a:spLocks noGrp="1" noChangeArrowheads="1"/>
          </p:cNvSpPr>
          <p:nvPr/>
        </p:nvSpPr>
        <p:spPr bwMode="auto">
          <a:xfrm>
            <a:off x="250825" y="6453188"/>
            <a:ext cx="3214688" cy="214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lvl="0" eaLnBrk="1" hangingPunct="1">
              <a:buNone/>
            </a:pPr>
            <a:r>
              <a:rPr lang="pt-BR" altLang="pt-BR" sz="1200" dirty="0">
                <a:latin typeface="Arial" panose="020B0604020202020204" pitchFamily="34" charset="0"/>
              </a:rPr>
              <a:t>slide </a:t>
            </a:r>
            <a:fld id="{9A0DB2DC-4C9A-4742-B13C-FB6460FD3503}" type="slidenum">
              <a:rPr lang="pt-BR" altLang="pt-BR" sz="1200" dirty="0">
                <a:latin typeface="Arial" panose="020B0604020202020204" pitchFamily="34" charset="0"/>
              </a:rPr>
              <a:t>‹nº›</a:t>
            </a:fld>
            <a:endParaRPr lang="pt-BR" altLang="pt-BR" sz="1200" dirty="0">
              <a:latin typeface="Arial" panose="020B0604020202020204" pitchFamily="34" charset="0"/>
            </a:endParaRPr>
          </a:p>
          <a:p>
            <a:pPr lvl="0" eaLnBrk="1" hangingPunct="1">
              <a:buNone/>
            </a:pPr>
            <a:endParaRPr lang="pt-BR" altLang="pt-BR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Shape 1"/>
          <p:cNvSpPr txBox="1"/>
          <p:nvPr/>
        </p:nvSpPr>
        <p:spPr>
          <a:xfrm>
            <a:off x="250825" y="2416175"/>
            <a:ext cx="7772400" cy="1470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pt-BR" b="1" dirty="0">
                <a:latin typeface="Calibri" panose="020F0502020204030204" charset="0"/>
                <a:ea typeface="MS PGothic" panose="020B0600070205080204" pitchFamily="34" charset="-128"/>
              </a:rPr>
              <a:t>Modelagem de Processos de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pt-BR" b="1" dirty="0">
                <a:latin typeface="Calibri" panose="020F0502020204030204" charset="0"/>
                <a:ea typeface="MS PGothic" panose="020B0600070205080204" pitchFamily="34" charset="-128"/>
              </a:rPr>
              <a:t>Negócios e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pt-BR" b="1" dirty="0">
                <a:latin typeface="Calibri" panose="020F0502020204030204" charset="0"/>
                <a:ea typeface="MS PGothic" panose="020B0600070205080204" pitchFamily="34" charset="-128"/>
              </a:rPr>
              <a:t>Engenharia de Requisitos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pt-BR" sz="2400" b="1" dirty="0">
              <a:latin typeface="Calibri" panose="020F0502020204030204" charset="0"/>
              <a:ea typeface="MS PGothic" panose="020B0600070205080204" pitchFamily="34" charset="-128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pt-BR" sz="2400" b="1" dirty="0">
                <a:solidFill>
                  <a:srgbClr val="FF0000"/>
                </a:solidFill>
                <a:latin typeface="Calibri" panose="020F0502020204030204" charset="0"/>
                <a:ea typeface="MS PGothic" panose="020B0600070205080204" pitchFamily="34" charset="-128"/>
              </a:rPr>
              <a:t>Value Proposition Canvas</a:t>
            </a:r>
          </a:p>
        </p:txBody>
      </p:sp>
      <p:sp>
        <p:nvSpPr>
          <p:cNvPr id="29701" name="Rectangle 8"/>
          <p:cNvSpPr>
            <a:spLocks noGrp="1"/>
          </p:cNvSpPr>
          <p:nvPr/>
        </p:nvSpPr>
        <p:spPr>
          <a:xfrm>
            <a:off x="250825" y="6454775"/>
            <a:ext cx="3214688" cy="2143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ea typeface="DejaVu Sans"/>
              </a:rPr>
              <a:t>slide </a:t>
            </a:r>
            <a:fld id="{9A0DB2DC-4C9A-4742-B13C-FB6460FD3503}" type="slidenum">
              <a:rPr lang="pt-BR" altLang="pt-BR" sz="1200" dirty="0">
                <a:ea typeface="DejaVu Sans"/>
              </a:rPr>
              <a:t>1</a:t>
            </a:fld>
            <a:endParaRPr lang="pt-BR" altLang="pt-BR" sz="1200" dirty="0">
              <a:ea typeface="DejaVu Sans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pt-BR" altLang="pt-BR" sz="1200" dirty="0">
              <a:ea typeface="DejaVu Sans"/>
            </a:endParaRPr>
          </a:p>
        </p:txBody>
      </p:sp>
      <p:pic>
        <p:nvPicPr>
          <p:cNvPr id="29702" name="Imagem 4" descr="Resultado de imagem para engenharia de softwa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700" y="1792288"/>
            <a:ext cx="2335213" cy="23034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3" name="Imagem 2" descr="Gráfico&#10;&#10;Descrição gerada automaticamen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4510088"/>
            <a:ext cx="2592388" cy="1244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Shape 1"/>
          <p:cNvSpPr txBox="1"/>
          <p:nvPr/>
        </p:nvSpPr>
        <p:spPr>
          <a:xfrm>
            <a:off x="107950" y="255588"/>
            <a:ext cx="7292975" cy="869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pt-BR" sz="2400" b="1" dirty="0">
                <a:latin typeface="Calibri" panose="020F0502020204030204" charset="0"/>
                <a:ea typeface="MS PGothic" panose="020B0600070205080204" pitchFamily="34" charset="-128"/>
              </a:rPr>
              <a:t>Value Proposition Canvas</a:t>
            </a:r>
            <a:endParaRPr lang="pt-BR" altLang="pt-BR" sz="1800" dirty="0">
              <a:latin typeface="Calibri" panose="020F0502020204030204" charset="0"/>
              <a:ea typeface="MS PGothic" panose="020B0600070205080204" pitchFamily="34" charset="-128"/>
            </a:endParaRPr>
          </a:p>
        </p:txBody>
      </p:sp>
      <p:sp>
        <p:nvSpPr>
          <p:cNvPr id="30725" name="CaixaDeTexto 7"/>
          <p:cNvSpPr txBox="1"/>
          <p:nvPr/>
        </p:nvSpPr>
        <p:spPr>
          <a:xfrm>
            <a:off x="1979613" y="2773363"/>
            <a:ext cx="4835525" cy="1016000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pt-BR" altLang="pt-BR" sz="2000" b="1" dirty="0">
                <a:solidFill>
                  <a:srgbClr val="FF0000"/>
                </a:solidFill>
                <a:ea typeface="DejaVu Sans"/>
              </a:rPr>
              <a:t>Ajuda a construir produtos ou serviços mais próximos às necessidades do cliente!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68313" y="4292600"/>
            <a:ext cx="8424863" cy="1631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pt-BR" sz="2000" b="1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DejaVu Sans"/>
                <a:cs typeface="Times New Roman" panose="02020603050405020304" pitchFamily="18" charset="0"/>
              </a:rPr>
              <a:t>Benefícios:</a:t>
            </a:r>
          </a:p>
          <a:p>
            <a:pPr marR="0" algn="ctr" defTabSz="914400">
              <a:buClrTx/>
              <a:buSzTx/>
              <a:buFontTx/>
              <a:buNone/>
              <a:defRPr/>
            </a:pPr>
            <a:endParaRPr kumimoji="0" lang="pt-BR" sz="2000" kern="1200" cap="none" spc="0" normalizeH="0" baseline="0" noProof="0" dirty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85750" marR="0" indent="-285750" algn="ctr" defTabSz="91440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pt-BR" sz="2000" kern="1200" cap="none" spc="0" normalizeH="0" baseline="0" noProof="0" dirty="0">
                <a:latin typeface="Arial" panose="020B0604020202020204" pitchFamily="34" charset="0"/>
                <a:ea typeface="DejaVu Sans"/>
                <a:cs typeface="DejaVu Sans"/>
              </a:rPr>
              <a:t>Desenvolver produtos conforme a necessidade do cliente;</a:t>
            </a:r>
          </a:p>
          <a:p>
            <a:pPr marL="285750" marR="0" indent="-285750" algn="ctr" defTabSz="91440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pt-BR" sz="2000" kern="1200" cap="none" spc="0" normalizeH="0" baseline="0" noProof="0" dirty="0">
                <a:latin typeface="Arial" panose="020B0604020202020204" pitchFamily="34" charset="0"/>
                <a:ea typeface="DejaVu Sans"/>
                <a:cs typeface="DejaVu Sans"/>
              </a:rPr>
              <a:t>Comparar o que está entregando com a real necessidade do cliente;</a:t>
            </a:r>
          </a:p>
          <a:p>
            <a:pPr marL="285750" marR="0" indent="-285750" algn="ctr" defTabSz="91440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pt-BR" sz="2000" kern="1200" cap="none" spc="0" normalizeH="0" baseline="0" noProof="0" dirty="0">
                <a:latin typeface="Arial" panose="020B0604020202020204" pitchFamily="34" charset="0"/>
                <a:ea typeface="DejaVu Sans"/>
                <a:cs typeface="DejaVu Sans"/>
              </a:rPr>
              <a:t>Por fim, economizar tempo e dinheiro.</a:t>
            </a:r>
          </a:p>
        </p:txBody>
      </p:sp>
      <p:pic>
        <p:nvPicPr>
          <p:cNvPr id="30727" name="Imagem 2" descr="Gráfico&#10;&#10;Descrição gerada automaticamen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982663"/>
            <a:ext cx="2592388" cy="1246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Shape 1"/>
          <p:cNvSpPr txBox="1"/>
          <p:nvPr/>
        </p:nvSpPr>
        <p:spPr>
          <a:xfrm>
            <a:off x="107950" y="255588"/>
            <a:ext cx="7292975" cy="869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pt-BR" sz="2400" b="1" dirty="0">
                <a:latin typeface="Calibri" panose="020F0502020204030204" charset="0"/>
                <a:ea typeface="MS PGothic" panose="020B0600070205080204" pitchFamily="34" charset="-128"/>
              </a:rPr>
              <a:t>Business Model Canvas</a:t>
            </a:r>
            <a:endParaRPr lang="pt-BR" altLang="pt-BR" sz="1800" dirty="0">
              <a:latin typeface="Calibri" panose="020F0502020204030204" charset="0"/>
              <a:ea typeface="MS PGothic" panose="020B0600070205080204" pitchFamily="34" charset="-128"/>
            </a:endParaRPr>
          </a:p>
        </p:txBody>
      </p:sp>
      <p:pic>
        <p:nvPicPr>
          <p:cNvPr id="31749" name="Imagem 6" descr="Uma imagem contendo Linha do tempo&#10;&#10;Descrição gerada automaticamen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288" y="1484313"/>
            <a:ext cx="6284912" cy="4244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0" name="CaixaDeTexto 9"/>
          <p:cNvSpPr txBox="1"/>
          <p:nvPr/>
        </p:nvSpPr>
        <p:spPr>
          <a:xfrm>
            <a:off x="250825" y="5961063"/>
            <a:ext cx="878522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pt-BR" altLang="pt-BR" sz="2000" b="1" i="1" dirty="0">
                <a:solidFill>
                  <a:srgbClr val="FF0000"/>
                </a:solidFill>
                <a:ea typeface="DejaVu Sans"/>
              </a:rPr>
              <a:t>Traz uma visão mais estrutural do negócio.</a:t>
            </a:r>
          </a:p>
          <a:p>
            <a:pPr marL="0" lvl="0" indent="0" algn="ctr">
              <a:spcBef>
                <a:spcPct val="0"/>
              </a:spcBef>
              <a:buNone/>
            </a:pPr>
            <a:r>
              <a:rPr lang="pt-BR" altLang="pt-BR" sz="2000" b="1" i="1" dirty="0">
                <a:solidFill>
                  <a:srgbClr val="FF0000"/>
                </a:solidFill>
                <a:ea typeface="DejaVu Sans"/>
              </a:rPr>
              <a:t>Para software, vamos focar em </a:t>
            </a:r>
            <a:r>
              <a:rPr lang="pt-BR" altLang="pt-BR" sz="2000" b="1" i="1" u="sng" dirty="0">
                <a:solidFill>
                  <a:srgbClr val="FF0000"/>
                </a:solidFill>
                <a:ea typeface="DejaVu Sans"/>
              </a:rPr>
              <a:t>Proposta de Valor</a:t>
            </a:r>
            <a:r>
              <a:rPr lang="pt-BR" altLang="pt-BR" sz="2000" b="1" i="1" dirty="0">
                <a:solidFill>
                  <a:srgbClr val="FF0000"/>
                </a:solidFill>
                <a:ea typeface="DejaVu Sans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Shape 1"/>
          <p:cNvSpPr txBox="1"/>
          <p:nvPr/>
        </p:nvSpPr>
        <p:spPr>
          <a:xfrm>
            <a:off x="107950" y="255588"/>
            <a:ext cx="3600450" cy="869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pt-BR" sz="2400" b="1" dirty="0">
                <a:latin typeface="Calibri" panose="020F0502020204030204" charset="0"/>
                <a:ea typeface="MS PGothic" panose="020B0600070205080204" pitchFamily="34" charset="-128"/>
              </a:rPr>
              <a:t>Relação entre: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pt-BR" sz="2400" b="1" dirty="0">
                <a:solidFill>
                  <a:srgbClr val="FF0000"/>
                </a:solidFill>
                <a:latin typeface="Calibri" panose="020F0502020204030204" charset="0"/>
                <a:ea typeface="MS PGothic" panose="020B0600070205080204" pitchFamily="34" charset="-128"/>
              </a:rPr>
              <a:t>Business Model Canvas</a:t>
            </a:r>
            <a:r>
              <a:rPr lang="en-US" altLang="pt-BR" sz="2400" b="1" dirty="0">
                <a:latin typeface="Calibri" panose="020F0502020204030204" charset="0"/>
                <a:ea typeface="MS PGothic" panose="020B0600070205080204" pitchFamily="34" charset="-128"/>
              </a:rPr>
              <a:t> e 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pt-BR" sz="2400" b="1" dirty="0">
                <a:solidFill>
                  <a:srgbClr val="FF0000"/>
                </a:solidFill>
                <a:latin typeface="Calibri" panose="020F0502020204030204" charset="0"/>
                <a:ea typeface="MS PGothic" panose="020B0600070205080204" pitchFamily="34" charset="-128"/>
              </a:rPr>
              <a:t>Value Proposition Canvas</a:t>
            </a:r>
            <a:endParaRPr lang="pt-BR" altLang="pt-BR" sz="1800" dirty="0">
              <a:solidFill>
                <a:srgbClr val="FF0000"/>
              </a:solidFill>
              <a:latin typeface="Calibri" panose="020F0502020204030204" charset="0"/>
              <a:ea typeface="MS PGothic" panose="020B0600070205080204" pitchFamily="34" charset="-128"/>
            </a:endParaRPr>
          </a:p>
        </p:txBody>
      </p:sp>
      <p:sp>
        <p:nvSpPr>
          <p:cNvPr id="32773" name="CaixaDeTexto 9"/>
          <p:cNvSpPr txBox="1"/>
          <p:nvPr/>
        </p:nvSpPr>
        <p:spPr>
          <a:xfrm>
            <a:off x="250825" y="6021388"/>
            <a:ext cx="878522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pt-BR" altLang="pt-BR" sz="2000" b="1" i="1" dirty="0">
                <a:solidFill>
                  <a:srgbClr val="FF0000"/>
                </a:solidFill>
                <a:ea typeface="DejaVu Sans"/>
              </a:rPr>
              <a:t>Value Proposition Canvas é uma boa abordagem para Product Owners.</a:t>
            </a:r>
          </a:p>
        </p:txBody>
      </p:sp>
      <p:pic>
        <p:nvPicPr>
          <p:cNvPr id="32774" name="Imagem 7" descr="Diagrama&#10;&#10;Descrição gerada automaticamen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75" y="1746250"/>
            <a:ext cx="5780088" cy="4130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aixaDeTexto 1"/>
          <p:cNvSpPr txBox="1"/>
          <p:nvPr/>
        </p:nvSpPr>
        <p:spPr>
          <a:xfrm>
            <a:off x="469900" y="1066800"/>
            <a:ext cx="50165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Value Proposition Canvas</a:t>
            </a:r>
          </a:p>
        </p:txBody>
      </p:sp>
      <p:sp>
        <p:nvSpPr>
          <p:cNvPr id="33795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Estrutura</a:t>
            </a:r>
          </a:p>
        </p:txBody>
      </p:sp>
      <p:sp>
        <p:nvSpPr>
          <p:cNvPr id="33796" name="CaixaDeTexto 27"/>
          <p:cNvSpPr txBox="1"/>
          <p:nvPr/>
        </p:nvSpPr>
        <p:spPr>
          <a:xfrm>
            <a:off x="2051050" y="6237288"/>
            <a:ext cx="5329238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pt-BR" altLang="pt-BR" sz="1800" u="sng" dirty="0">
                <a:solidFill>
                  <a:srgbClr val="FF0000"/>
                </a:solidFill>
                <a:ea typeface="DejaVu Sans"/>
              </a:rPr>
              <a:t>https://www.youtube.com/watch?v=FaoiWFwQrzU</a:t>
            </a:r>
          </a:p>
        </p:txBody>
      </p:sp>
      <p:pic>
        <p:nvPicPr>
          <p:cNvPr id="33797" name="Imagem 2" descr="Diagrama&#10;&#10;Descrição gerada automaticamente com confiança méd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2179638"/>
            <a:ext cx="8027988" cy="3841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aixaDeTexto 1"/>
          <p:cNvSpPr txBox="1"/>
          <p:nvPr/>
        </p:nvSpPr>
        <p:spPr>
          <a:xfrm>
            <a:off x="469900" y="1066800"/>
            <a:ext cx="50165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Value Proposition Canvas</a:t>
            </a:r>
          </a:p>
        </p:txBody>
      </p:sp>
      <p:sp>
        <p:nvSpPr>
          <p:cNvPr id="35843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Exemplo</a:t>
            </a:r>
          </a:p>
        </p:txBody>
      </p:sp>
      <p:sp>
        <p:nvSpPr>
          <p:cNvPr id="35844" name="CaixaDeTexto 27"/>
          <p:cNvSpPr txBox="1"/>
          <p:nvPr/>
        </p:nvSpPr>
        <p:spPr>
          <a:xfrm>
            <a:off x="2051050" y="6237288"/>
            <a:ext cx="5329238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pt-BR" altLang="pt-BR" sz="1800" b="1" dirty="0">
                <a:solidFill>
                  <a:srgbClr val="FF0000"/>
                </a:solidFill>
                <a:ea typeface="DejaVu Sans"/>
              </a:rPr>
              <a:t>Venda de Livros Online</a:t>
            </a:r>
          </a:p>
        </p:txBody>
      </p:sp>
      <p:pic>
        <p:nvPicPr>
          <p:cNvPr id="35845" name="Imagem 2" descr="Gráfico&#10;&#10;Descrição gerada automaticamen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2197100"/>
            <a:ext cx="8259763" cy="3968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aixaDeTexto 1"/>
          <p:cNvSpPr txBox="1"/>
          <p:nvPr/>
        </p:nvSpPr>
        <p:spPr>
          <a:xfrm>
            <a:off x="469900" y="1066800"/>
            <a:ext cx="50165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Value Proposition Canvas</a:t>
            </a:r>
          </a:p>
        </p:txBody>
      </p:sp>
      <p:sp>
        <p:nvSpPr>
          <p:cNvPr id="37891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Passo a passo:</a:t>
            </a:r>
          </a:p>
        </p:txBody>
      </p:sp>
      <p:pic>
        <p:nvPicPr>
          <p:cNvPr id="37892" name="Imagem 3" descr="Texto&#10;&#10;Descrição gerada automaticamente com confiança baix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13" y="2098675"/>
            <a:ext cx="6607175" cy="4138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3" name="CaixaDeTexto 4"/>
          <p:cNvSpPr txBox="1"/>
          <p:nvPr/>
        </p:nvSpPr>
        <p:spPr>
          <a:xfrm>
            <a:off x="1014413" y="6381750"/>
            <a:ext cx="81041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pt-BR" altLang="pt-BR" sz="1800" u="sng" dirty="0">
                <a:solidFill>
                  <a:srgbClr val="FF0000"/>
                </a:solidFill>
                <a:ea typeface="DejaVu Sans"/>
              </a:rPr>
              <a:t>https://pt.slideshare.net/oeconsulting/value-proposition-canvas-96312739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aixaDeTexto 1"/>
          <p:cNvSpPr txBox="1"/>
          <p:nvPr/>
        </p:nvSpPr>
        <p:spPr>
          <a:xfrm>
            <a:off x="469900" y="1066800"/>
            <a:ext cx="77597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Value Proposition Canvas e User Stories</a:t>
            </a:r>
          </a:p>
        </p:txBody>
      </p:sp>
      <p:sp>
        <p:nvSpPr>
          <p:cNvPr id="39939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Mapeamentos para Requisitos Funcionais e Não Funcionais</a:t>
            </a:r>
          </a:p>
        </p:txBody>
      </p:sp>
      <p:sp>
        <p:nvSpPr>
          <p:cNvPr id="37892" name="Rectangle 1033"/>
          <p:cNvSpPr>
            <a:spLocks noChangeArrowheads="1"/>
          </p:cNvSpPr>
          <p:nvPr/>
        </p:nvSpPr>
        <p:spPr bwMode="auto">
          <a:xfrm>
            <a:off x="228600" y="2743200"/>
            <a:ext cx="8534400" cy="2057400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/>
          <a:lstStyle>
            <a:lvl1pPr marL="180975" indent="-1809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None/>
              <a:defRPr/>
            </a:pPr>
            <a:r>
              <a:rPr kumimoji="0" lang="pt-BR" altLang="pt-B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User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Stories</a:t>
            </a:r>
          </a:p>
          <a:p>
            <a:pPr marL="180975" marR="0" lvl="0" indent="-180975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O </a:t>
            </a:r>
            <a:r>
              <a:rPr kumimoji="0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Value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</a:t>
            </a:r>
            <a:r>
              <a:rPr kumimoji="0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Proposition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</a:t>
            </a:r>
            <a:r>
              <a:rPr kumimoji="0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Canvas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permite extrair </a:t>
            </a:r>
            <a:r>
              <a:rPr kumimoji="0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user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stories em alto nível de abstração para o Projeto de Software</a:t>
            </a:r>
          </a:p>
          <a:p>
            <a:pPr marL="180975" marR="0" lvl="0" indent="-180975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Fontes de </a:t>
            </a:r>
            <a:r>
              <a:rPr kumimoji="0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User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Stories: tarefas do cliente, dores do cliente, analgésicos (alívio das dores) e criadores de ganhos</a:t>
            </a:r>
          </a:p>
          <a:p>
            <a:pPr marL="180975" marR="0" lvl="0" indent="-180975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Também requisitos não funcionais podem emergir das mesmas fontes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aixaDeTexto 1"/>
          <p:cNvSpPr txBox="1"/>
          <p:nvPr/>
        </p:nvSpPr>
        <p:spPr>
          <a:xfrm>
            <a:off x="469900" y="1066800"/>
            <a:ext cx="854075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 dirty="0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Value Proposition Canvas e Diagr. Processos</a:t>
            </a:r>
          </a:p>
        </p:txBody>
      </p:sp>
      <p:sp>
        <p:nvSpPr>
          <p:cNvPr id="41987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 dirty="0">
                <a:latin typeface="Calibri" panose="020F0502020204030204" charset="0"/>
                <a:ea typeface="DejaVu Sans"/>
              </a:rPr>
              <a:t>Mapeamentos para Processos</a:t>
            </a:r>
          </a:p>
        </p:txBody>
      </p:sp>
      <p:sp>
        <p:nvSpPr>
          <p:cNvPr id="37892" name="Rectangle 1033"/>
          <p:cNvSpPr>
            <a:spLocks noChangeArrowheads="1"/>
          </p:cNvSpPr>
          <p:nvPr/>
        </p:nvSpPr>
        <p:spPr bwMode="auto">
          <a:xfrm>
            <a:off x="228600" y="2743200"/>
            <a:ext cx="8534400" cy="2057400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/>
          <a:lstStyle>
            <a:lvl1pPr marL="180975" indent="-1809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None/>
              <a:defRPr/>
            </a:pP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Diagrama de Processos (BPMN, por exemplo)</a:t>
            </a: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O </a:t>
            </a:r>
            <a:r>
              <a:rPr kumimoji="0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Value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</a:t>
            </a:r>
            <a:r>
              <a:rPr kumimoji="0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Proposition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</a:t>
            </a:r>
            <a:r>
              <a:rPr kumimoji="0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Canvas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permite extrair </a:t>
            </a:r>
            <a:r>
              <a:rPr kumimoji="0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user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stories em alto nível de abstração para o Projeto de Software que podem ser, em alguma medida, alinhadas com Processos, Atividades ou Tarefas</a:t>
            </a: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O </a:t>
            </a:r>
            <a:r>
              <a:rPr kumimoji="0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Value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</a:t>
            </a:r>
            <a:r>
              <a:rPr kumimoji="0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Proposition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</a:t>
            </a:r>
            <a:r>
              <a:rPr kumimoji="0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Canvas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também permite extrair, em alguma medida, em alto nível de abstração, regras de negócio, alinhadas com Atividades ou Tarefas</a:t>
            </a: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215968"/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Fontes de Processos, Atividades ou Tarefas: tarefas do cliente, dores do cliente, analgésicos (alívio das dores) e criadores de ganhos</a:t>
            </a:r>
          </a:p>
          <a:p>
            <a:pPr marL="180975" marR="0" lvl="0" indent="-180975" algn="just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25000"/>
              </a:spcAft>
              <a:buClrTx/>
              <a:buSzTx/>
              <a:buFontTx/>
              <a:buChar char="•"/>
              <a:defRPr/>
            </a:pPr>
            <a:endParaRPr kumimoji="0" lang="pt-BR" altLang="pt-BR" sz="1800" b="0" i="0" u="none" strike="noStrike" kern="1200" cap="none" spc="0" normalizeH="0" baseline="0" noProof="0" dirty="0">
              <a:ln>
                <a:noFill/>
              </a:ln>
              <a:solidFill>
                <a:srgbClr val="215968"/>
              </a:solidFill>
              <a:effectLst/>
              <a:uLnTx/>
              <a:uFillTx/>
              <a:latin typeface="Calibri" panose="020F0502020204030204" charset="0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00C1ABC62A77F408CCCD3E2FA81569F" ma:contentTypeVersion="10" ma:contentTypeDescription="Crie um novo documento." ma:contentTypeScope="" ma:versionID="a83843281256eb8553209adf3cf04ea2">
  <xsd:schema xmlns:xsd="http://www.w3.org/2001/XMLSchema" xmlns:xs="http://www.w3.org/2001/XMLSchema" xmlns:p="http://schemas.microsoft.com/office/2006/metadata/properties" xmlns:ns2="cab57bc6-0aad-4c80-a30f-bbd4ef7a8f38" xmlns:ns3="4c24305b-3a8f-420f-955e-2e1a5a939de2" targetNamespace="http://schemas.microsoft.com/office/2006/metadata/properties" ma:root="true" ma:fieldsID="7c4be05088cdebcdc3bfacf4a1c611fc" ns2:_="" ns3:_="">
    <xsd:import namespace="cab57bc6-0aad-4c80-a30f-bbd4ef7a8f38"/>
    <xsd:import namespace="4c24305b-3a8f-420f-955e-2e1a5a939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b57bc6-0aad-4c80-a30f-bbd4ef7a8f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24305b-3a8f-420f-955e-2e1a5a939de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f335cb0-1453-4510-96bd-923a78948247}" ma:internalName="TaxCatchAll" ma:showField="CatchAllData" ma:web="4c24305b-3a8f-420f-955e-2e1a5a939d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24305b-3a8f-420f-955e-2e1a5a939de2" xsi:nil="true"/>
    <lcf76f155ced4ddcb4097134ff3c332f xmlns="cab57bc6-0aad-4c80-a30f-bbd4ef7a8f3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BBB7844-1076-416C-9483-6064247D69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B98B7D-F50E-4B83-86EA-90CB36328EB4}"/>
</file>

<file path=customXml/itemProps3.xml><?xml version="1.0" encoding="utf-8"?>
<ds:datastoreItem xmlns:ds="http://schemas.openxmlformats.org/officeDocument/2006/customXml" ds:itemID="{B94C6D97-0B8E-4397-9135-FEFEEAE2DBD6}">
  <ds:schemaRefs>
    <ds:schemaRef ds:uri="http://schemas.microsoft.com/office/2006/metadata/properties"/>
    <ds:schemaRef ds:uri="http://schemas.microsoft.com/office/infopath/2007/PartnerControls"/>
    <ds:schemaRef ds:uri="4c24305b-3a8f-420f-955e-2e1a5a939de2"/>
    <ds:schemaRef ds:uri="cab57bc6-0aad-4c80-a30f-bbd4ef7a8f3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1817</Words>
  <Application>Microsoft Office PowerPoint</Application>
  <PresentationFormat>Apresentação na tela (4:3)</PresentationFormat>
  <Paragraphs>67</Paragraphs>
  <Slides>9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administrator</dc:creator>
  <cp:lastModifiedBy>José Walmir G. Duque</cp:lastModifiedBy>
  <cp:revision>173</cp:revision>
  <dcterms:created xsi:type="dcterms:W3CDTF">2024-11-04T13:19:25Z</dcterms:created>
  <dcterms:modified xsi:type="dcterms:W3CDTF">2025-10-26T21:31:49Z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EB60071BB0E24A77AC90E6C7298520E0_12</vt:lpwstr>
  </property>
  <property fmtid="{D5CDD505-2E9C-101B-9397-08002B2CF9AE}" pid="3" name="KSOProductBuildVer">
    <vt:lpwstr>1046-12.2.0.18607</vt:lpwstr>
  </property>
  <property fmtid="{D5CDD505-2E9C-101B-9397-08002B2CF9AE}" pid="4" name="ContentTypeId">
    <vt:lpwstr>0x010100500C1ABC62A77F408CCCD3E2FA81569F</vt:lpwstr>
  </property>
  <property fmtid="{D5CDD505-2E9C-101B-9397-08002B2CF9AE}" pid="5" name="MediaServiceImageTags">
    <vt:lpwstr/>
  </property>
</Properties>
</file>